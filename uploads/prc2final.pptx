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1"/>
  </p:notesMasterIdLst>
  <p:sldIdLst>
    <p:sldId id="359" r:id="rId5"/>
    <p:sldId id="360" r:id="rId6"/>
    <p:sldId id="363" r:id="rId7"/>
    <p:sldId id="339" r:id="rId8"/>
    <p:sldId id="344" r:id="rId9"/>
    <p:sldId id="342" r:id="rId10"/>
    <p:sldId id="346" r:id="rId11"/>
    <p:sldId id="361" r:id="rId12"/>
    <p:sldId id="362" r:id="rId13"/>
    <p:sldId id="347" r:id="rId14"/>
    <p:sldId id="345" r:id="rId15"/>
    <p:sldId id="348" r:id="rId16"/>
    <p:sldId id="300" r:id="rId17"/>
    <p:sldId id="303" r:id="rId18"/>
    <p:sldId id="304" r:id="rId19"/>
    <p:sldId id="353" r:id="rId20"/>
    <p:sldId id="349" r:id="rId21"/>
    <p:sldId id="354" r:id="rId22"/>
    <p:sldId id="318" r:id="rId23"/>
    <p:sldId id="357" r:id="rId24"/>
    <p:sldId id="352" r:id="rId25"/>
    <p:sldId id="323" r:id="rId26"/>
    <p:sldId id="350" r:id="rId27"/>
    <p:sldId id="328" r:id="rId28"/>
    <p:sldId id="356" r:id="rId29"/>
    <p:sldId id="33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06E4072-E76D-4C5D-B17F-A557C7CAB404}">
          <p14:sldIdLst>
            <p14:sldId id="359"/>
            <p14:sldId id="360"/>
            <p14:sldId id="363"/>
          </p14:sldIdLst>
        </p14:section>
        <p14:section name="Untitled Section" id="{7D225D86-B470-4A7E-8095-D5B5117D736E}">
          <p14:sldIdLst>
            <p14:sldId id="339"/>
            <p14:sldId id="344"/>
            <p14:sldId id="342"/>
            <p14:sldId id="346"/>
            <p14:sldId id="361"/>
            <p14:sldId id="362"/>
            <p14:sldId id="347"/>
            <p14:sldId id="345"/>
            <p14:sldId id="348"/>
            <p14:sldId id="300"/>
            <p14:sldId id="303"/>
            <p14:sldId id="304"/>
            <p14:sldId id="353"/>
            <p14:sldId id="349"/>
            <p14:sldId id="354"/>
            <p14:sldId id="318"/>
            <p14:sldId id="357"/>
            <p14:sldId id="352"/>
            <p14:sldId id="323"/>
            <p14:sldId id="350"/>
            <p14:sldId id="328"/>
            <p14:sldId id="356"/>
            <p14:sldId id="33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FB4A6F-BDE3-4476-9AC2-3CD5702F31F3}" v="6" dt="2025-01-23T19:24:33.4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19" autoAdjust="0"/>
  </p:normalViewPr>
  <p:slideViewPr>
    <p:cSldViewPr snapToGrid="0">
      <p:cViewPr varScale="1">
        <p:scale>
          <a:sx n="82" d="100"/>
          <a:sy n="82" d="100"/>
        </p:scale>
        <p:origin x="71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ha Burra" userId="10efd77fd4ef75d8" providerId="LiveId" clId="{63FB4A6F-BDE3-4476-9AC2-3CD5702F31F3}"/>
    <pc:docChg chg="undo custSel addSld delSld modSld sldOrd addSection modSection">
      <pc:chgData name="Harshitha Burra" userId="10efd77fd4ef75d8" providerId="LiveId" clId="{63FB4A6F-BDE3-4476-9AC2-3CD5702F31F3}" dt="2025-01-23T23:58:25.060" v="1093" actId="1076"/>
      <pc:docMkLst>
        <pc:docMk/>
      </pc:docMkLst>
      <pc:sldChg chg="modSp mod ord">
        <pc:chgData name="Harshitha Burra" userId="10efd77fd4ef75d8" providerId="LiveId" clId="{63FB4A6F-BDE3-4476-9AC2-3CD5702F31F3}" dt="2025-01-23T19:17:35.445" v="571" actId="33524"/>
        <pc:sldMkLst>
          <pc:docMk/>
          <pc:sldMk cId="366191064" sldId="300"/>
        </pc:sldMkLst>
        <pc:spChg chg="mod">
          <ac:chgData name="Harshitha Burra" userId="10efd77fd4ef75d8" providerId="LiveId" clId="{63FB4A6F-BDE3-4476-9AC2-3CD5702F31F3}" dt="2025-01-23T19:17:35.445" v="571" actId="33524"/>
          <ac:spMkLst>
            <pc:docMk/>
            <pc:sldMk cId="366191064" sldId="300"/>
            <ac:spMk id="3" creationId="{A3C73F5D-5D59-8692-DF9D-AEA8C43FF086}"/>
          </ac:spMkLst>
        </pc:spChg>
      </pc:sldChg>
      <pc:sldChg chg="modSp mod">
        <pc:chgData name="Harshitha Burra" userId="10efd77fd4ef75d8" providerId="LiveId" clId="{63FB4A6F-BDE3-4476-9AC2-3CD5702F31F3}" dt="2025-01-23T23:58:25.060" v="1093" actId="1076"/>
        <pc:sldMkLst>
          <pc:docMk/>
          <pc:sldMk cId="1039975549" sldId="303"/>
        </pc:sldMkLst>
        <pc:spChg chg="mod">
          <ac:chgData name="Harshitha Burra" userId="10efd77fd4ef75d8" providerId="LiveId" clId="{63FB4A6F-BDE3-4476-9AC2-3CD5702F31F3}" dt="2025-01-23T23:58:25.060" v="1093" actId="1076"/>
          <ac:spMkLst>
            <pc:docMk/>
            <pc:sldMk cId="1039975549" sldId="303"/>
            <ac:spMk id="2" creationId="{8C8AA097-D7F2-ECC7-1F9D-155B16DE3673}"/>
          </ac:spMkLst>
        </pc:spChg>
      </pc:sldChg>
      <pc:sldChg chg="modSp mod">
        <pc:chgData name="Harshitha Burra" userId="10efd77fd4ef75d8" providerId="LiveId" clId="{63FB4A6F-BDE3-4476-9AC2-3CD5702F31F3}" dt="2025-01-23T18:48:48.355" v="22" actId="313"/>
        <pc:sldMkLst>
          <pc:docMk/>
          <pc:sldMk cId="4099624598" sldId="304"/>
        </pc:sldMkLst>
        <pc:spChg chg="mod">
          <ac:chgData name="Harshitha Burra" userId="10efd77fd4ef75d8" providerId="LiveId" clId="{63FB4A6F-BDE3-4476-9AC2-3CD5702F31F3}" dt="2025-01-23T18:48:48.355" v="22" actId="313"/>
          <ac:spMkLst>
            <pc:docMk/>
            <pc:sldMk cId="4099624598" sldId="304"/>
            <ac:spMk id="3" creationId="{0B3D5CC3-1104-5B5C-CE8F-CE2C999A6373}"/>
          </ac:spMkLst>
        </pc:spChg>
      </pc:sldChg>
      <pc:sldChg chg="modSp mod">
        <pc:chgData name="Harshitha Burra" userId="10efd77fd4ef75d8" providerId="LiveId" clId="{63FB4A6F-BDE3-4476-9AC2-3CD5702F31F3}" dt="2025-01-23T18:47:40.652" v="21" actId="14100"/>
        <pc:sldMkLst>
          <pc:docMk/>
          <pc:sldMk cId="1077456599" sldId="323"/>
        </pc:sldMkLst>
        <pc:spChg chg="mod">
          <ac:chgData name="Harshitha Burra" userId="10efd77fd4ef75d8" providerId="LiveId" clId="{63FB4A6F-BDE3-4476-9AC2-3CD5702F31F3}" dt="2025-01-23T18:47:14.763" v="18" actId="14100"/>
          <ac:spMkLst>
            <pc:docMk/>
            <pc:sldMk cId="1077456599" sldId="323"/>
            <ac:spMk id="2" creationId="{CE457973-1368-3FF8-F07B-A6BD034C6AC3}"/>
          </ac:spMkLst>
        </pc:spChg>
        <pc:picChg chg="mod">
          <ac:chgData name="Harshitha Burra" userId="10efd77fd4ef75d8" providerId="LiveId" clId="{63FB4A6F-BDE3-4476-9AC2-3CD5702F31F3}" dt="2025-01-23T18:47:40.652" v="21" actId="14100"/>
          <ac:picMkLst>
            <pc:docMk/>
            <pc:sldMk cId="1077456599" sldId="323"/>
            <ac:picMk id="8" creationId="{AF487F04-1CE1-C217-E148-183446B26576}"/>
          </ac:picMkLst>
        </pc:picChg>
      </pc:sldChg>
      <pc:sldChg chg="ord">
        <pc:chgData name="Harshitha Burra" userId="10efd77fd4ef75d8" providerId="LiveId" clId="{63FB4A6F-BDE3-4476-9AC2-3CD5702F31F3}" dt="2025-01-23T18:49:10.343" v="26"/>
        <pc:sldMkLst>
          <pc:docMk/>
          <pc:sldMk cId="516687572" sldId="345"/>
        </pc:sldMkLst>
      </pc:sldChg>
      <pc:sldChg chg="ord">
        <pc:chgData name="Harshitha Burra" userId="10efd77fd4ef75d8" providerId="LiveId" clId="{63FB4A6F-BDE3-4476-9AC2-3CD5702F31F3}" dt="2025-01-23T18:49:21.393" v="30"/>
        <pc:sldMkLst>
          <pc:docMk/>
          <pc:sldMk cId="3020425256" sldId="347"/>
        </pc:sldMkLst>
      </pc:sldChg>
      <pc:sldChg chg="modSp mod">
        <pc:chgData name="Harshitha Burra" userId="10efd77fd4ef75d8" providerId="LiveId" clId="{63FB4A6F-BDE3-4476-9AC2-3CD5702F31F3}" dt="2025-01-23T18:47:04.260" v="17" actId="14100"/>
        <pc:sldMkLst>
          <pc:docMk/>
          <pc:sldMk cId="3024117163" sldId="350"/>
        </pc:sldMkLst>
        <pc:spChg chg="mod">
          <ac:chgData name="Harshitha Burra" userId="10efd77fd4ef75d8" providerId="LiveId" clId="{63FB4A6F-BDE3-4476-9AC2-3CD5702F31F3}" dt="2025-01-23T18:46:48.316" v="14" actId="14100"/>
          <ac:spMkLst>
            <pc:docMk/>
            <pc:sldMk cId="3024117163" sldId="350"/>
            <ac:spMk id="2" creationId="{00000000-0000-0000-0000-000000000000}"/>
          </ac:spMkLst>
        </pc:spChg>
        <pc:picChg chg="mod">
          <ac:chgData name="Harshitha Burra" userId="10efd77fd4ef75d8" providerId="LiveId" clId="{63FB4A6F-BDE3-4476-9AC2-3CD5702F31F3}" dt="2025-01-23T18:47:04.260" v="17" actId="14100"/>
          <ac:picMkLst>
            <pc:docMk/>
            <pc:sldMk cId="3024117163" sldId="350"/>
            <ac:picMk id="9" creationId="{B83D799C-42A1-A39D-ED3C-AB7AD31D2BA1}"/>
          </ac:picMkLst>
        </pc:picChg>
      </pc:sldChg>
      <pc:sldChg chg="addSp delSp modSp del mod">
        <pc:chgData name="Harshitha Burra" userId="10efd77fd4ef75d8" providerId="LiveId" clId="{63FB4A6F-BDE3-4476-9AC2-3CD5702F31F3}" dt="2025-01-16T12:29:48.674" v="2" actId="2696"/>
        <pc:sldMkLst>
          <pc:docMk/>
          <pc:sldMk cId="3650797988" sldId="351"/>
        </pc:sldMkLst>
      </pc:sldChg>
      <pc:sldChg chg="addSp delSp modSp new del mod">
        <pc:chgData name="Harshitha Burra" userId="10efd77fd4ef75d8" providerId="LiveId" clId="{63FB4A6F-BDE3-4476-9AC2-3CD5702F31F3}" dt="2025-01-16T12:30:38.550" v="7" actId="2696"/>
        <pc:sldMkLst>
          <pc:docMk/>
          <pc:sldMk cId="3221099274" sldId="358"/>
        </pc:sldMkLst>
      </pc:sldChg>
      <pc:sldChg chg="new del">
        <pc:chgData name="Harshitha Burra" userId="10efd77fd4ef75d8" providerId="LiveId" clId="{63FB4A6F-BDE3-4476-9AC2-3CD5702F31F3}" dt="2025-01-16T12:31:05.397" v="10" actId="2696"/>
        <pc:sldMkLst>
          <pc:docMk/>
          <pc:sldMk cId="3864098918" sldId="358"/>
        </pc:sldMkLst>
      </pc:sldChg>
      <pc:sldChg chg="addSp delSp modSp new mod">
        <pc:chgData name="Harshitha Burra" userId="10efd77fd4ef75d8" providerId="LiveId" clId="{63FB4A6F-BDE3-4476-9AC2-3CD5702F31F3}" dt="2025-01-23T18:58:39.303" v="34" actId="478"/>
        <pc:sldMkLst>
          <pc:docMk/>
          <pc:sldMk cId="3918277367" sldId="359"/>
        </pc:sldMkLst>
        <pc:picChg chg="add mod">
          <ac:chgData name="Harshitha Burra" userId="10efd77fd4ef75d8" providerId="LiveId" clId="{63FB4A6F-BDE3-4476-9AC2-3CD5702F31F3}" dt="2025-01-16T12:32:08.805" v="11" actId="931"/>
          <ac:picMkLst>
            <pc:docMk/>
            <pc:sldMk cId="3918277367" sldId="359"/>
            <ac:picMk id="4" creationId="{163963F6-0FCC-9A80-E43D-F8F58159FE1E}"/>
          </ac:picMkLst>
        </pc:picChg>
        <pc:picChg chg="add del">
          <ac:chgData name="Harshitha Burra" userId="10efd77fd4ef75d8" providerId="LiveId" clId="{63FB4A6F-BDE3-4476-9AC2-3CD5702F31F3}" dt="2025-01-23T18:58:39.303" v="34" actId="478"/>
          <ac:picMkLst>
            <pc:docMk/>
            <pc:sldMk cId="3918277367" sldId="359"/>
            <ac:picMk id="5" creationId="{CA5195B3-3B89-B938-6FDE-C6D239246D6C}"/>
          </ac:picMkLst>
        </pc:picChg>
      </pc:sldChg>
      <pc:sldChg chg="modSp new mod">
        <pc:chgData name="Harshitha Burra" userId="10efd77fd4ef75d8" providerId="LiveId" clId="{63FB4A6F-BDE3-4476-9AC2-3CD5702F31F3}" dt="2025-01-23T19:24:49.509" v="872" actId="5793"/>
        <pc:sldMkLst>
          <pc:docMk/>
          <pc:sldMk cId="291587646" sldId="360"/>
        </pc:sldMkLst>
        <pc:spChg chg="mod">
          <ac:chgData name="Harshitha Burra" userId="10efd77fd4ef75d8" providerId="LiveId" clId="{63FB4A6F-BDE3-4476-9AC2-3CD5702F31F3}" dt="2025-01-23T19:19:06.385" v="596" actId="2711"/>
          <ac:spMkLst>
            <pc:docMk/>
            <pc:sldMk cId="291587646" sldId="360"/>
            <ac:spMk id="2" creationId="{02F4B0A5-D81A-D08B-25FC-A261FB486105}"/>
          </ac:spMkLst>
        </pc:spChg>
        <pc:spChg chg="mod">
          <ac:chgData name="Harshitha Burra" userId="10efd77fd4ef75d8" providerId="LiveId" clId="{63FB4A6F-BDE3-4476-9AC2-3CD5702F31F3}" dt="2025-01-23T19:24:49.509" v="872" actId="5793"/>
          <ac:spMkLst>
            <pc:docMk/>
            <pc:sldMk cId="291587646" sldId="360"/>
            <ac:spMk id="3" creationId="{13ED9D95-AEB7-C0A6-4C11-BD2492942108}"/>
          </ac:spMkLst>
        </pc:spChg>
      </pc:sldChg>
      <pc:sldChg chg="addSp delSp new del mod">
        <pc:chgData name="Harshitha Burra" userId="10efd77fd4ef75d8" providerId="LiveId" clId="{63FB4A6F-BDE3-4476-9AC2-3CD5702F31F3}" dt="2025-01-23T19:01:33.875" v="43" actId="47"/>
        <pc:sldMkLst>
          <pc:docMk/>
          <pc:sldMk cId="456512239" sldId="360"/>
        </pc:sldMkLst>
        <pc:spChg chg="add del">
          <ac:chgData name="Harshitha Burra" userId="10efd77fd4ef75d8" providerId="LiveId" clId="{63FB4A6F-BDE3-4476-9AC2-3CD5702F31F3}" dt="2025-01-23T19:00:34.932" v="40" actId="478"/>
          <ac:spMkLst>
            <pc:docMk/>
            <pc:sldMk cId="456512239" sldId="360"/>
            <ac:spMk id="6" creationId="{983C6812-84AD-586D-50E5-5D02684AA6D6}"/>
          </ac:spMkLst>
        </pc:spChg>
        <pc:picChg chg="add del">
          <ac:chgData name="Harshitha Burra" userId="10efd77fd4ef75d8" providerId="LiveId" clId="{63FB4A6F-BDE3-4476-9AC2-3CD5702F31F3}" dt="2025-01-23T18:58:49.052" v="36" actId="478"/>
          <ac:picMkLst>
            <pc:docMk/>
            <pc:sldMk cId="456512239" sldId="360"/>
            <ac:picMk id="4" creationId="{0968A786-2FB9-0ACA-8FCC-305317551BC3}"/>
          </ac:picMkLst>
        </pc:picChg>
      </pc:sldChg>
      <pc:sldChg chg="new del">
        <pc:chgData name="Harshitha Burra" userId="10efd77fd4ef75d8" providerId="LiveId" clId="{63FB4A6F-BDE3-4476-9AC2-3CD5702F31F3}" dt="2025-01-23T18:10:20.642" v="13" actId="47"/>
        <pc:sldMkLst>
          <pc:docMk/>
          <pc:sldMk cId="1812676380" sldId="360"/>
        </pc:sldMkLst>
      </pc:sldChg>
      <pc:sldChg chg="modSp new mod">
        <pc:chgData name="Harshitha Burra" userId="10efd77fd4ef75d8" providerId="LiveId" clId="{63FB4A6F-BDE3-4476-9AC2-3CD5702F31F3}" dt="2025-01-23T23:53:16.602" v="1092" actId="20577"/>
        <pc:sldMkLst>
          <pc:docMk/>
          <pc:sldMk cId="500820207" sldId="361"/>
        </pc:sldMkLst>
        <pc:spChg chg="mod">
          <ac:chgData name="Harshitha Burra" userId="10efd77fd4ef75d8" providerId="LiveId" clId="{63FB4A6F-BDE3-4476-9AC2-3CD5702F31F3}" dt="2025-01-23T19:08:25.397" v="144" actId="20577"/>
          <ac:spMkLst>
            <pc:docMk/>
            <pc:sldMk cId="500820207" sldId="361"/>
            <ac:spMk id="2" creationId="{2C599690-E4BD-43F6-B8AD-890CD247DA87}"/>
          </ac:spMkLst>
        </pc:spChg>
        <pc:spChg chg="mod">
          <ac:chgData name="Harshitha Burra" userId="10efd77fd4ef75d8" providerId="LiveId" clId="{63FB4A6F-BDE3-4476-9AC2-3CD5702F31F3}" dt="2025-01-23T23:53:16.602" v="1092" actId="20577"/>
          <ac:spMkLst>
            <pc:docMk/>
            <pc:sldMk cId="500820207" sldId="361"/>
            <ac:spMk id="3" creationId="{CC801D7C-8CD7-3A25-AE05-E2E256F7C1C2}"/>
          </ac:spMkLst>
        </pc:spChg>
      </pc:sldChg>
      <pc:sldChg chg="new del">
        <pc:chgData name="Harshitha Burra" userId="10efd77fd4ef75d8" providerId="LiveId" clId="{63FB4A6F-BDE3-4476-9AC2-3CD5702F31F3}" dt="2025-01-23T19:01:28.854" v="42" actId="47"/>
        <pc:sldMkLst>
          <pc:docMk/>
          <pc:sldMk cId="879083623" sldId="361"/>
        </pc:sldMkLst>
      </pc:sldChg>
      <pc:sldChg chg="new del">
        <pc:chgData name="Harshitha Burra" userId="10efd77fd4ef75d8" providerId="LiveId" clId="{63FB4A6F-BDE3-4476-9AC2-3CD5702F31F3}" dt="2025-01-23T19:03:44.452" v="46" actId="47"/>
        <pc:sldMkLst>
          <pc:docMk/>
          <pc:sldMk cId="2673111628" sldId="361"/>
        </pc:sldMkLst>
      </pc:sldChg>
      <pc:sldChg chg="modSp new mod">
        <pc:chgData name="Harshitha Burra" userId="10efd77fd4ef75d8" providerId="LiveId" clId="{63FB4A6F-BDE3-4476-9AC2-3CD5702F31F3}" dt="2025-01-23T19:17:14.105" v="570" actId="313"/>
        <pc:sldMkLst>
          <pc:docMk/>
          <pc:sldMk cId="2650968672" sldId="362"/>
        </pc:sldMkLst>
        <pc:spChg chg="mod">
          <ac:chgData name="Harshitha Burra" userId="10efd77fd4ef75d8" providerId="LiveId" clId="{63FB4A6F-BDE3-4476-9AC2-3CD5702F31F3}" dt="2025-01-23T19:13:59.792" v="398" actId="2711"/>
          <ac:spMkLst>
            <pc:docMk/>
            <pc:sldMk cId="2650968672" sldId="362"/>
            <ac:spMk id="2" creationId="{DE6A06D0-5E2B-D950-8F12-66FC681387F1}"/>
          </ac:spMkLst>
        </pc:spChg>
        <pc:spChg chg="mod">
          <ac:chgData name="Harshitha Burra" userId="10efd77fd4ef75d8" providerId="LiveId" clId="{63FB4A6F-BDE3-4476-9AC2-3CD5702F31F3}" dt="2025-01-23T19:17:14.105" v="570" actId="313"/>
          <ac:spMkLst>
            <pc:docMk/>
            <pc:sldMk cId="2650968672" sldId="362"/>
            <ac:spMk id="3" creationId="{4A5DE936-67B2-9FC6-4B68-70CA1F5EE6F6}"/>
          </ac:spMkLst>
        </pc:spChg>
      </pc:sldChg>
      <pc:sldChg chg="delSp modSp new mod">
        <pc:chgData name="Harshitha Burra" userId="10efd77fd4ef75d8" providerId="LiveId" clId="{63FB4A6F-BDE3-4476-9AC2-3CD5702F31F3}" dt="2025-01-23T19:31:08.250" v="1052" actId="20577"/>
        <pc:sldMkLst>
          <pc:docMk/>
          <pc:sldMk cId="1163290583" sldId="363"/>
        </pc:sldMkLst>
        <pc:spChg chg="del mod">
          <ac:chgData name="Harshitha Burra" userId="10efd77fd4ef75d8" providerId="LiveId" clId="{63FB4A6F-BDE3-4476-9AC2-3CD5702F31F3}" dt="2025-01-23T19:27:24.937" v="982" actId="478"/>
          <ac:spMkLst>
            <pc:docMk/>
            <pc:sldMk cId="1163290583" sldId="363"/>
            <ac:spMk id="2" creationId="{198D2E2A-7E27-AD10-A6B0-71978E65682E}"/>
          </ac:spMkLst>
        </pc:spChg>
        <pc:spChg chg="mod">
          <ac:chgData name="Harshitha Burra" userId="10efd77fd4ef75d8" providerId="LiveId" clId="{63FB4A6F-BDE3-4476-9AC2-3CD5702F31F3}" dt="2025-01-23T19:31:08.250" v="1052" actId="20577"/>
          <ac:spMkLst>
            <pc:docMk/>
            <pc:sldMk cId="1163290583" sldId="363"/>
            <ac:spMk id="3" creationId="{5877418A-18C8-490D-641B-651C0EC047C3}"/>
          </ac:spMkLst>
        </pc:spChg>
      </pc:sldChg>
      <pc:sldChg chg="new del">
        <pc:chgData name="Harshitha Burra" userId="10efd77fd4ef75d8" providerId="LiveId" clId="{63FB4A6F-BDE3-4476-9AC2-3CD5702F31F3}" dt="2025-01-23T19:25:27.286" v="873" actId="47"/>
        <pc:sldMkLst>
          <pc:docMk/>
          <pc:sldMk cId="2365632510" sldId="3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C8E8D3-7907-479A-92EA-D0CB913B7ACD}" type="datetimeFigureOut">
              <a:rPr lang="en-IN" smtClean="0"/>
              <a:t>24-01-2025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183443-7330-4EAF-B004-E538DA567CE1}" type="slidenum">
              <a:rPr lang="en-IN" smtClean="0"/>
              <a:t>‹#›</a:t>
            </a:fld>
            <a:endParaRPr lang="en-IN"/>
          </a:p>
        </p:txBody>
      </p:sp>
    </p:spTree>
    <p:extLst>
      <p:ext uri="{BB962C8B-B14F-4D97-AF65-F5344CB8AC3E}">
        <p14:creationId xmlns:p14="http://schemas.microsoft.com/office/powerpoint/2010/main" val="1540940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DC161D8B-D36D-4B68-8203-67ED7A92B880}" type="datetime1">
              <a:rPr lang="en-US" smtClean="0"/>
              <a:t>1/24/2025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B6548C30-7FC7-48E8-BF00-FD6C53A46DCB}" type="datetime1">
              <a:rPr lang="en-US" smtClean="0"/>
              <a:t>1/24/2025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0032B036-09A5-4C2A-AE7B-1FFFE7ADDDBF}" type="datetime1">
              <a:rPr lang="en-US" smtClean="0"/>
              <a:t>1/24/2025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7FA4BF37-1E3F-48A9-A3E9-BFDE4371D20B}" type="datetime1">
              <a:rPr lang="en-US" smtClean="0"/>
              <a:t>1/24/2025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78A86F28-AA91-4629-B64F-0BA74D25201B}" type="datetime1">
              <a:rPr lang="en-US" smtClean="0"/>
              <a:t>1/24/2025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3419EA6E-3335-4FF1-AA88-1F124AEBA812}" type="datetime1">
              <a:rPr lang="en-US" smtClean="0"/>
              <a:t>1/24/2025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0EC47B89-8956-455C-B56F-271CDD59B018}" type="datetime1">
              <a:rPr lang="en-US" smtClean="0"/>
              <a:t>1/24/2025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797EA331-DB1C-41CB-B546-1C1A95060305}" type="datetime1">
              <a:rPr lang="en-US" smtClean="0"/>
              <a:t>1/24/2025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B6902E06-566B-44D4-A842-815EAB5A63FD}" type="datetime1">
              <a:rPr lang="en-US" smtClean="0"/>
              <a:t>1/24/2025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AE9BCCBE-99ED-419E-B0F7-E476B5194BC2}" type="datetime1">
              <a:rPr lang="en-US" smtClean="0"/>
              <a:t>1/24/2025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pPr/>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9AC5B3-DB29-103D-55A6-0BE31C1A20DB}"/>
              </a:ext>
            </a:extLst>
          </p:cNvPr>
          <p:cNvSpPr>
            <a:spLocks noGrp="1"/>
          </p:cNvSpPr>
          <p:nvPr>
            <p:ph type="sldNum" sz="quarter" idx="12"/>
          </p:nvPr>
        </p:nvSpPr>
        <p:spPr/>
        <p:txBody>
          <a:bodyPr/>
          <a:lstStyle/>
          <a:p>
            <a:fld id="{3A98EE3D-8CD1-4C3F-BD1C-C98C9596463C}" type="slidenum">
              <a:rPr lang="en-US" smtClean="0"/>
              <a:pPr/>
              <a:t>1</a:t>
            </a:fld>
            <a:endParaRPr lang="en-US" dirty="0"/>
          </a:p>
        </p:txBody>
      </p:sp>
      <p:pic>
        <p:nvPicPr>
          <p:cNvPr id="4" name="Picture 3">
            <a:extLst>
              <a:ext uri="{FF2B5EF4-FFF2-40B4-BE49-F238E27FC236}">
                <a16:creationId xmlns:a16="http://schemas.microsoft.com/office/drawing/2014/main" id="{163963F6-0FCC-9A80-E43D-F8F58159FE1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18277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B0A5-D81A-D08B-25FC-A261FB486105}"/>
              </a:ext>
            </a:extLst>
          </p:cNvPr>
          <p:cNvSpPr>
            <a:spLocks noGrp="1"/>
          </p:cNvSpPr>
          <p:nvPr>
            <p:ph type="title"/>
          </p:nvPr>
        </p:nvSpPr>
        <p:spPr/>
        <p:txBody>
          <a:bodyPr/>
          <a:lstStyle/>
          <a:p>
            <a:r>
              <a:rPr lang="en-IN" dirty="0">
                <a:latin typeface="Constantia" panose="02030602050306030303" pitchFamily="18" charset="0"/>
              </a:rPr>
              <a:t>CONTENTS</a:t>
            </a:r>
          </a:p>
        </p:txBody>
      </p:sp>
      <p:sp>
        <p:nvSpPr>
          <p:cNvPr id="3" name="Content Placeholder 2">
            <a:extLst>
              <a:ext uri="{FF2B5EF4-FFF2-40B4-BE49-F238E27FC236}">
                <a16:creationId xmlns:a16="http://schemas.microsoft.com/office/drawing/2014/main" id="{13ED9D95-AEB7-C0A6-4C11-BD2492942108}"/>
              </a:ext>
            </a:extLst>
          </p:cNvPr>
          <p:cNvSpPr>
            <a:spLocks noGrp="1"/>
          </p:cNvSpPr>
          <p:nvPr>
            <p:ph idx="1"/>
          </p:nvPr>
        </p:nvSpPr>
        <p:spPr/>
        <p:txBody>
          <a:bodyPr>
            <a:noAutofit/>
          </a:bodyPr>
          <a:lstStyle/>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Introduction</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Literature Survey</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Existing System</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Proposed System</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Software requirements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Hardware requirements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Architecture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Advantages</a:t>
            </a:r>
          </a:p>
          <a:p>
            <a:pPr marL="201168" lvl="1"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89A6CBD-DF69-6B8A-7030-CF56BF239A4B}"/>
              </a:ext>
            </a:extLst>
          </p:cNvPr>
          <p:cNvSpPr>
            <a:spLocks noGrp="1"/>
          </p:cNvSpPr>
          <p:nvPr>
            <p:ph type="sldNum" sz="quarter" idx="12"/>
          </p:nvPr>
        </p:nvSpPr>
        <p:spPr/>
        <p:txBody>
          <a:bodyPr/>
          <a:lstStyle/>
          <a:p>
            <a:fld id="{3A98EE3D-8CD1-4C3F-BD1C-C98C9596463C}" type="slidenum">
              <a:rPr lang="en-US" smtClean="0"/>
              <a:pPr/>
              <a:t>2</a:t>
            </a:fld>
            <a:endParaRPr lang="en-US" dirty="0"/>
          </a:p>
        </p:txBody>
      </p:sp>
    </p:spTree>
    <p:extLst>
      <p:ext uri="{BB962C8B-B14F-4D97-AF65-F5344CB8AC3E}">
        <p14:creationId xmlns:p14="http://schemas.microsoft.com/office/powerpoint/2010/main" val="291587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77418A-18C8-490D-641B-651C0EC047C3}"/>
              </a:ext>
            </a:extLst>
          </p:cNvPr>
          <p:cNvSpPr>
            <a:spLocks noGrp="1"/>
          </p:cNvSpPr>
          <p:nvPr>
            <p:ph idx="1"/>
          </p:nvPr>
        </p:nvSpPr>
        <p:spPr/>
        <p:txBody>
          <a:bodyPr>
            <a:normAutofit lnSpcReduction="10000"/>
          </a:bodyPr>
          <a:lstStyle/>
          <a:p>
            <a:pPr>
              <a:buFont typeface="Arial" panose="020B0604020202020204" pitchFamily="34" charset="0"/>
              <a:buChar char="•"/>
            </a:pPr>
            <a:r>
              <a:rPr lang="en-IN" dirty="0"/>
              <a:t> Disadvantages</a:t>
            </a:r>
          </a:p>
          <a:p>
            <a:pPr>
              <a:buFont typeface="Arial" panose="020B0604020202020204" pitchFamily="34" charset="0"/>
              <a:buChar char="•"/>
            </a:pPr>
            <a:r>
              <a:rPr lang="en-IN" dirty="0"/>
              <a:t> Objectives</a:t>
            </a:r>
          </a:p>
          <a:p>
            <a:pPr>
              <a:buFont typeface="Arial" panose="020B0604020202020204" pitchFamily="34" charset="0"/>
              <a:buChar char="•"/>
            </a:pPr>
            <a:r>
              <a:rPr lang="en-IN" dirty="0"/>
              <a:t> Modules</a:t>
            </a:r>
          </a:p>
          <a:p>
            <a:pPr>
              <a:buFont typeface="Arial" panose="020B0604020202020204" pitchFamily="34" charset="0"/>
              <a:buChar char="•"/>
            </a:pPr>
            <a:r>
              <a:rPr lang="en-IN" dirty="0"/>
              <a:t> Algorithms for stock market prediction</a:t>
            </a:r>
          </a:p>
          <a:p>
            <a:pPr>
              <a:buFont typeface="Arial" panose="020B0604020202020204" pitchFamily="34" charset="0"/>
              <a:buChar char="•"/>
            </a:pPr>
            <a:r>
              <a:rPr lang="en-IN" dirty="0"/>
              <a:t> Comparison of Models</a:t>
            </a:r>
          </a:p>
          <a:p>
            <a:pPr>
              <a:buFont typeface="Arial" panose="020B0604020202020204" pitchFamily="34" charset="0"/>
              <a:buChar char="•"/>
            </a:pPr>
            <a:r>
              <a:rPr lang="en-IN" dirty="0"/>
              <a:t> Model performance metrics</a:t>
            </a:r>
          </a:p>
          <a:p>
            <a:pPr>
              <a:buFont typeface="Arial" panose="020B0604020202020204" pitchFamily="34" charset="0"/>
              <a:buChar char="•"/>
            </a:pPr>
            <a:r>
              <a:rPr lang="en-IN" dirty="0"/>
              <a:t> Conclusion</a:t>
            </a:r>
          </a:p>
          <a:p>
            <a:pPr>
              <a:buFont typeface="Arial" panose="020B0604020202020204" pitchFamily="34" charset="0"/>
              <a:buChar char="•"/>
            </a:pPr>
            <a:r>
              <a:rPr lang="en-IN" dirty="0"/>
              <a:t> References </a:t>
            </a:r>
          </a:p>
        </p:txBody>
      </p:sp>
      <p:sp>
        <p:nvSpPr>
          <p:cNvPr id="4" name="Slide Number Placeholder 3">
            <a:extLst>
              <a:ext uri="{FF2B5EF4-FFF2-40B4-BE49-F238E27FC236}">
                <a16:creationId xmlns:a16="http://schemas.microsoft.com/office/drawing/2014/main" id="{0347A204-7F6A-8E9B-B85C-0E60CAEC82FC}"/>
              </a:ext>
            </a:extLst>
          </p:cNvPr>
          <p:cNvSpPr>
            <a:spLocks noGrp="1"/>
          </p:cNvSpPr>
          <p:nvPr>
            <p:ph type="sldNum" sz="quarter" idx="12"/>
          </p:nvPr>
        </p:nvSpPr>
        <p:spPr/>
        <p:txBody>
          <a:bodyPr/>
          <a:lstStyle/>
          <a:p>
            <a:fld id="{3A98EE3D-8CD1-4C3F-BD1C-C98C9596463C}" type="slidenum">
              <a:rPr lang="en-US" smtClean="0"/>
              <a:pPr/>
              <a:t>3</a:t>
            </a:fld>
            <a:endParaRPr lang="en-US" dirty="0"/>
          </a:p>
        </p:txBody>
      </p:sp>
    </p:spTree>
    <p:extLst>
      <p:ext uri="{BB962C8B-B14F-4D97-AF65-F5344CB8AC3E}">
        <p14:creationId xmlns:p14="http://schemas.microsoft.com/office/powerpoint/2010/main" val="116329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0EE8-470D-F2F1-A4CB-88781EAADE46}"/>
              </a:ext>
            </a:extLst>
          </p:cNvPr>
          <p:cNvSpPr>
            <a:spLocks noGrp="1"/>
          </p:cNvSpPr>
          <p:nvPr>
            <p:ph type="title"/>
          </p:nvPr>
        </p:nvSpPr>
        <p:spPr/>
        <p:txBody>
          <a:bodyPr/>
          <a:lstStyle/>
          <a:p>
            <a:r>
              <a:rPr lang="en-US" dirty="0">
                <a:latin typeface="Constantia" panose="02030602050306030303" pitchFamily="18" charset="0"/>
              </a:rPr>
              <a:t>Introduction</a:t>
            </a:r>
            <a:endParaRPr lang="en-IN" dirty="0">
              <a:latin typeface="Constantia" panose="02030602050306030303" pitchFamily="18" charset="0"/>
            </a:endParaRPr>
          </a:p>
        </p:txBody>
      </p:sp>
      <p:sp>
        <p:nvSpPr>
          <p:cNvPr id="4" name="Content Placeholder 3">
            <a:extLst>
              <a:ext uri="{FF2B5EF4-FFF2-40B4-BE49-F238E27FC236}">
                <a16:creationId xmlns:a16="http://schemas.microsoft.com/office/drawing/2014/main" id="{F3A92FAF-12BF-6900-97CC-F14A67E446A1}"/>
              </a:ext>
            </a:extLst>
          </p:cNvPr>
          <p:cNvSpPr>
            <a:spLocks noGrp="1"/>
          </p:cNvSpPr>
          <p:nvPr>
            <p:ph sz="half" idx="2"/>
          </p:nvPr>
        </p:nvSpPr>
        <p:spPr>
          <a:xfrm>
            <a:off x="6265628" y="2120900"/>
            <a:ext cx="4890052" cy="3748194"/>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stock market facilitates the buying and selling of securities, including stocks, bonds, and derivatives, enabling investors to trade ownership in companies and debt instruments.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serves as an indicator of economic health, reflecting the overall performance and confidence in the economy based on stock price movements and trading volumes</a:t>
            </a:r>
            <a:r>
              <a:rPr lang="en-US" dirty="0"/>
              <a:t>. </a:t>
            </a:r>
            <a:endParaRPr lang="en-IN" dirty="0"/>
          </a:p>
        </p:txBody>
      </p:sp>
      <p:sp>
        <p:nvSpPr>
          <p:cNvPr id="5" name="Content Placeholder 4"/>
          <p:cNvSpPr>
            <a:spLocks noGrp="1"/>
          </p:cNvSpPr>
          <p:nvPr>
            <p:ph sz="half" idx="1"/>
          </p:nvPr>
        </p:nvSpPr>
        <p:spPr/>
        <p:txBody>
          <a:bodyPr>
            <a:normAutofit/>
          </a:bodyPr>
          <a:lstStyle/>
          <a:p>
            <a:endParaRPr lang="en-IN"/>
          </a:p>
        </p:txBody>
      </p:sp>
      <p:pic>
        <p:nvPicPr>
          <p:cNvPr id="8" name="Picture 7"/>
          <p:cNvPicPr>
            <a:picLocks noChangeAspect="1"/>
          </p:cNvPicPr>
          <p:nvPr/>
        </p:nvPicPr>
        <p:blipFill>
          <a:blip r:embed="rId2"/>
          <a:stretch>
            <a:fillRect/>
          </a:stretch>
        </p:blipFill>
        <p:spPr>
          <a:xfrm>
            <a:off x="1097280" y="2120901"/>
            <a:ext cx="4639735" cy="3748192"/>
          </a:xfrm>
          <a:prstGeom prst="rect">
            <a:avLst/>
          </a:prstGeom>
        </p:spPr>
      </p:pic>
      <p:sp>
        <p:nvSpPr>
          <p:cNvPr id="6" name="Slide Number Placeholder 5">
            <a:extLst>
              <a:ext uri="{FF2B5EF4-FFF2-40B4-BE49-F238E27FC236}">
                <a16:creationId xmlns:a16="http://schemas.microsoft.com/office/drawing/2014/main" id="{F77A29AA-3A2A-4A75-DD5F-B24B8C2761EC}"/>
              </a:ext>
            </a:extLst>
          </p:cNvPr>
          <p:cNvSpPr>
            <a:spLocks noGrp="1"/>
          </p:cNvSpPr>
          <p:nvPr>
            <p:ph type="sldNum" sz="quarter" idx="12"/>
          </p:nvPr>
        </p:nvSpPr>
        <p:spPr/>
        <p:txBody>
          <a:bodyPr/>
          <a:lstStyle/>
          <a:p>
            <a:fld id="{3A98EE3D-8CD1-4C3F-BD1C-C98C9596463C}" type="slidenum">
              <a:rPr lang="en-US" smtClean="0"/>
              <a:pPr/>
              <a:t>4</a:t>
            </a:fld>
            <a:endParaRPr lang="en-US" dirty="0"/>
          </a:p>
        </p:txBody>
      </p:sp>
    </p:spTree>
    <p:extLst>
      <p:ext uri="{BB962C8B-B14F-4D97-AF65-F5344CB8AC3E}">
        <p14:creationId xmlns:p14="http://schemas.microsoft.com/office/powerpoint/2010/main" val="263808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tantia" panose="02030602050306030303" pitchFamily="18" charset="0"/>
              </a:rPr>
              <a:t>Literature Survey</a:t>
            </a:r>
            <a:r>
              <a:rPr lang="en-US" dirty="0"/>
              <a:t> </a:t>
            </a:r>
            <a:endParaRPr lang="en-IN" dirty="0"/>
          </a:p>
        </p:txBody>
      </p:sp>
      <p:pic>
        <p:nvPicPr>
          <p:cNvPr id="4" name="table">
            <a:extLst>
              <a:ext uri="{FF2B5EF4-FFF2-40B4-BE49-F238E27FC236}">
                <a16:creationId xmlns:a16="http://schemas.microsoft.com/office/drawing/2014/main" id="{2ADC3BD2-3305-4A2B-3DC4-123861C290BE}"/>
              </a:ext>
            </a:extLst>
          </p:cNvPr>
          <p:cNvPicPr>
            <a:picLocks noGrp="1" noChangeAspect="1"/>
          </p:cNvPicPr>
          <p:nvPr>
            <p:ph idx="1"/>
          </p:nvPr>
        </p:nvPicPr>
        <p:blipFill>
          <a:blip r:embed="rId2"/>
          <a:stretch>
            <a:fillRect/>
          </a:stretch>
        </p:blipFill>
        <p:spPr>
          <a:xfrm>
            <a:off x="1940767" y="2108199"/>
            <a:ext cx="8556172" cy="4059335"/>
          </a:xfrm>
          <a:prstGeom prst="rect">
            <a:avLst/>
          </a:prstGeom>
        </p:spPr>
      </p:pic>
      <p:sp>
        <p:nvSpPr>
          <p:cNvPr id="6" name="Slide Number Placeholder 5">
            <a:extLst>
              <a:ext uri="{FF2B5EF4-FFF2-40B4-BE49-F238E27FC236}">
                <a16:creationId xmlns:a16="http://schemas.microsoft.com/office/drawing/2014/main" id="{F2D26C41-4FB6-A916-502F-F4616340D2A6}"/>
              </a:ext>
            </a:extLst>
          </p:cNvPr>
          <p:cNvSpPr>
            <a:spLocks noGrp="1"/>
          </p:cNvSpPr>
          <p:nvPr>
            <p:ph type="sldNum" sz="quarter" idx="12"/>
          </p:nvPr>
        </p:nvSpPr>
        <p:spPr/>
        <p:txBody>
          <a:bodyPr/>
          <a:lstStyle/>
          <a:p>
            <a:fld id="{3A98EE3D-8CD1-4C3F-BD1C-C98C9596463C}" type="slidenum">
              <a:rPr lang="en-US" smtClean="0"/>
              <a:pPr/>
              <a:t>5</a:t>
            </a:fld>
            <a:endParaRPr lang="en-US" dirty="0"/>
          </a:p>
        </p:txBody>
      </p:sp>
    </p:spTree>
    <p:extLst>
      <p:ext uri="{BB962C8B-B14F-4D97-AF65-F5344CB8AC3E}">
        <p14:creationId xmlns:p14="http://schemas.microsoft.com/office/powerpoint/2010/main" val="2038772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tantia" panose="02030602050306030303" pitchFamily="18" charset="0"/>
              </a:rPr>
              <a:t>Existing Systems</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t> </a:t>
            </a:r>
            <a:r>
              <a:rPr lang="en-US" b="1" dirty="0">
                <a:latin typeface="Times New Roman" panose="02020603050405020304" pitchFamily="18" charset="0"/>
                <a:cs typeface="Times New Roman" panose="02020603050405020304" pitchFamily="18" charset="0"/>
              </a:rPr>
              <a:t>Alpha Vantage:</a:t>
            </a:r>
            <a:r>
              <a:rPr lang="en-US" dirty="0">
                <a:latin typeface="Times New Roman" panose="02020603050405020304" pitchFamily="18" charset="0"/>
                <a:cs typeface="Times New Roman" panose="02020603050405020304" pitchFamily="18" charset="0"/>
              </a:rPr>
              <a:t> Provides real-time and historical equity data through an API, allowing users to perform technical analysis and build predictive models.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Quandl:</a:t>
            </a:r>
            <a:r>
              <a:rPr lang="en-US" dirty="0">
                <a:latin typeface="Times New Roman" panose="02020603050405020304" pitchFamily="18" charset="0"/>
                <a:cs typeface="Times New Roman" panose="02020603050405020304" pitchFamily="18" charset="0"/>
              </a:rPr>
              <a:t> Offers a wide range of financial and economic data, including real-time stock prices, which can be used for building predictive models and backtesting trading strategies.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StockViz:</a:t>
            </a:r>
            <a:r>
              <a:rPr lang="en-US" dirty="0">
                <a:latin typeface="Times New Roman" panose="02020603050405020304" pitchFamily="18" charset="0"/>
                <a:cs typeface="Times New Roman" panose="02020603050405020304" pitchFamily="18" charset="0"/>
              </a:rPr>
              <a:t> A platform that provides real-time stock market data, analysis tools, and predictive analytics for traders and investors.</a:t>
            </a:r>
          </a:p>
          <a:p>
            <a:pPr>
              <a:buFont typeface="Wingdings" panose="05000000000000000000" pitchFamily="2" charset="2"/>
              <a:buChar char="Ø"/>
            </a:pPr>
            <a:endParaRPr lang="en-US" dirty="0"/>
          </a:p>
        </p:txBody>
      </p:sp>
      <p:sp>
        <p:nvSpPr>
          <p:cNvPr id="5" name="Slide Number Placeholder 4">
            <a:extLst>
              <a:ext uri="{FF2B5EF4-FFF2-40B4-BE49-F238E27FC236}">
                <a16:creationId xmlns:a16="http://schemas.microsoft.com/office/drawing/2014/main" id="{DB7A6EF4-8043-874E-DFA6-19A584CC3864}"/>
              </a:ext>
            </a:extLst>
          </p:cNvPr>
          <p:cNvSpPr>
            <a:spLocks noGrp="1"/>
          </p:cNvSpPr>
          <p:nvPr>
            <p:ph type="sldNum" sz="quarter" idx="12"/>
          </p:nvPr>
        </p:nvSpPr>
        <p:spPr/>
        <p:txBody>
          <a:bodyPr/>
          <a:lstStyle/>
          <a:p>
            <a:fld id="{3A98EE3D-8CD1-4C3F-BD1C-C98C9596463C}"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tantia" panose="02030602050306030303" pitchFamily="18" charset="0"/>
              </a:rPr>
              <a:t>Proposed System </a:t>
            </a:r>
            <a:endParaRPr lang="en-IN" dirty="0">
              <a:latin typeface="Constantia" panose="02030602050306030303" pitchFamily="18" charset="0"/>
            </a:endParaRP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propose a method to enhance stock market prediction accuracy by combining sentiment analysis on Twitter data with high-frequency data analysis.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method aims to capture market dynamics and public sentiment towards specific companies. We collect and preprocess tweets to understand public sentiment, then extract features to capture market dynamics.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These features, combined with sentiment analysis results, train a machine learning model for stock price prediction.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Our model, evaluated using historical stock data and Twitter sentiment data, shows improved prediction accuracy over traditional methods, highlighting the potential of high-frequency data analysis in stock market prediction.</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ABAE8E3-F154-29DB-A1F4-88EEAF262E29}"/>
              </a:ext>
            </a:extLst>
          </p:cNvPr>
          <p:cNvSpPr>
            <a:spLocks noGrp="1"/>
          </p:cNvSpPr>
          <p:nvPr>
            <p:ph type="sldNum" sz="quarter" idx="12"/>
          </p:nvPr>
        </p:nvSpPr>
        <p:spPr/>
        <p:txBody>
          <a:bodyPr/>
          <a:lstStyle/>
          <a:p>
            <a:fld id="{3A98EE3D-8CD1-4C3F-BD1C-C98C9596463C}" type="slidenum">
              <a:rPr lang="en-US" smtClean="0"/>
              <a:pPr/>
              <a:t>7</a:t>
            </a:fld>
            <a:endParaRPr lang="en-US" dirty="0"/>
          </a:p>
        </p:txBody>
      </p:sp>
    </p:spTree>
    <p:extLst>
      <p:ext uri="{BB962C8B-B14F-4D97-AF65-F5344CB8AC3E}">
        <p14:creationId xmlns:p14="http://schemas.microsoft.com/office/powerpoint/2010/main" val="2359737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99690-E4BD-43F6-B8AD-890CD247DA87}"/>
              </a:ext>
            </a:extLst>
          </p:cNvPr>
          <p:cNvSpPr>
            <a:spLocks noGrp="1"/>
          </p:cNvSpPr>
          <p:nvPr>
            <p:ph type="title"/>
          </p:nvPr>
        </p:nvSpPr>
        <p:spPr/>
        <p:txBody>
          <a:bodyPr/>
          <a:lstStyle/>
          <a:p>
            <a:r>
              <a:rPr lang="en-IN" dirty="0">
                <a:latin typeface="Constantia" panose="02030602050306030303" pitchFamily="18" charset="0"/>
              </a:rPr>
              <a:t>Software  Requirements</a:t>
            </a:r>
          </a:p>
        </p:txBody>
      </p:sp>
      <p:sp>
        <p:nvSpPr>
          <p:cNvPr id="3" name="Content Placeholder 2">
            <a:extLst>
              <a:ext uri="{FF2B5EF4-FFF2-40B4-BE49-F238E27FC236}">
                <a16:creationId xmlns:a16="http://schemas.microsoft.com/office/drawing/2014/main" id="{CC801D7C-8CD7-3A25-AE05-E2E256F7C1C2}"/>
              </a:ext>
            </a:extLst>
          </p:cNvPr>
          <p:cNvSpPr>
            <a:spLocks noGrp="1"/>
          </p:cNvSpPr>
          <p:nvPr>
            <p:ph idx="1"/>
          </p:nvPr>
        </p:nvSpPr>
        <p:spPr/>
        <p:txBody>
          <a:bodyPr/>
          <a:lstStyle/>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programming language : machine learning, python</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Data base : CSV files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Web server : Flask</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Frame Works : YAHOO, Twitter  API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IDE : PyCharm, Visual studio, IDE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Version Control : Git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Web Server : XAMP server</a:t>
            </a:r>
          </a:p>
        </p:txBody>
      </p:sp>
      <p:sp>
        <p:nvSpPr>
          <p:cNvPr id="4" name="Slide Number Placeholder 3">
            <a:extLst>
              <a:ext uri="{FF2B5EF4-FFF2-40B4-BE49-F238E27FC236}">
                <a16:creationId xmlns:a16="http://schemas.microsoft.com/office/drawing/2014/main" id="{A95AC9AB-A485-C57D-981D-F32E49754152}"/>
              </a:ext>
            </a:extLst>
          </p:cNvPr>
          <p:cNvSpPr>
            <a:spLocks noGrp="1"/>
          </p:cNvSpPr>
          <p:nvPr>
            <p:ph type="sldNum" sz="quarter" idx="12"/>
          </p:nvPr>
        </p:nvSpPr>
        <p:spPr/>
        <p:txBody>
          <a:bodyPr/>
          <a:lstStyle/>
          <a:p>
            <a:fld id="{3A98EE3D-8CD1-4C3F-BD1C-C98C9596463C}" type="slidenum">
              <a:rPr lang="en-US" smtClean="0"/>
              <a:pPr/>
              <a:t>8</a:t>
            </a:fld>
            <a:endParaRPr lang="en-US" dirty="0"/>
          </a:p>
        </p:txBody>
      </p:sp>
    </p:spTree>
    <p:extLst>
      <p:ext uri="{BB962C8B-B14F-4D97-AF65-F5344CB8AC3E}">
        <p14:creationId xmlns:p14="http://schemas.microsoft.com/office/powerpoint/2010/main" val="50082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A06D0-5E2B-D950-8F12-66FC681387F1}"/>
              </a:ext>
            </a:extLst>
          </p:cNvPr>
          <p:cNvSpPr>
            <a:spLocks noGrp="1"/>
          </p:cNvSpPr>
          <p:nvPr>
            <p:ph type="title"/>
          </p:nvPr>
        </p:nvSpPr>
        <p:spPr/>
        <p:txBody>
          <a:bodyPr/>
          <a:lstStyle/>
          <a:p>
            <a:r>
              <a:rPr lang="en-IN" dirty="0">
                <a:latin typeface="Constantia" panose="02030602050306030303" pitchFamily="18" charset="0"/>
              </a:rPr>
              <a:t>HARDWARE REQUIREMENTS</a:t>
            </a:r>
          </a:p>
        </p:txBody>
      </p:sp>
      <p:sp>
        <p:nvSpPr>
          <p:cNvPr id="3" name="Content Placeholder 2">
            <a:extLst>
              <a:ext uri="{FF2B5EF4-FFF2-40B4-BE49-F238E27FC236}">
                <a16:creationId xmlns:a16="http://schemas.microsoft.com/office/drawing/2014/main" id="{4A5DE936-67B2-9FC6-4B68-70CA1F5EE6F6}"/>
              </a:ext>
            </a:extLst>
          </p:cNvPr>
          <p:cNvSpPr>
            <a:spLocks noGrp="1"/>
          </p:cNvSpPr>
          <p:nvPr>
            <p:ph idx="1"/>
          </p:nvPr>
        </p:nvSpPr>
        <p:spPr/>
        <p:txBody>
          <a:bodyPr/>
          <a:lstStyle/>
          <a:p>
            <a:pPr>
              <a:buFont typeface="Arial" panose="020B0604020202020204" pitchFamily="34" charset="0"/>
              <a:buChar char="•"/>
            </a:pPr>
            <a:r>
              <a:rPr lang="en-IN" dirty="0"/>
              <a:t> Processor : Amd Ryzen 5</a:t>
            </a:r>
          </a:p>
          <a:p>
            <a:pPr>
              <a:buFont typeface="Arial" panose="020B0604020202020204" pitchFamily="34" charset="0"/>
              <a:buChar char="•"/>
            </a:pPr>
            <a:r>
              <a:rPr lang="en-IN" dirty="0"/>
              <a:t> RAM : Minimum 4 GB</a:t>
            </a:r>
          </a:p>
          <a:p>
            <a:pPr>
              <a:buFont typeface="Arial" panose="020B0604020202020204" pitchFamily="34" charset="0"/>
              <a:buChar char="•"/>
            </a:pPr>
            <a:r>
              <a:rPr lang="en-IN" dirty="0"/>
              <a:t> Storage : Minimum 25 GB</a:t>
            </a:r>
          </a:p>
          <a:p>
            <a:pPr>
              <a:buFont typeface="Arial" panose="020B0604020202020204" pitchFamily="34" charset="0"/>
              <a:buChar char="•"/>
            </a:pPr>
            <a:r>
              <a:rPr lang="en-IN" dirty="0"/>
              <a:t> Internet Connection : Stable broadband connection for server deployment and testing</a:t>
            </a:r>
          </a:p>
        </p:txBody>
      </p:sp>
      <p:sp>
        <p:nvSpPr>
          <p:cNvPr id="4" name="Slide Number Placeholder 3">
            <a:extLst>
              <a:ext uri="{FF2B5EF4-FFF2-40B4-BE49-F238E27FC236}">
                <a16:creationId xmlns:a16="http://schemas.microsoft.com/office/drawing/2014/main" id="{4DEACC7B-3F1C-7F57-47E5-8DC165846082}"/>
              </a:ext>
            </a:extLst>
          </p:cNvPr>
          <p:cNvSpPr>
            <a:spLocks noGrp="1"/>
          </p:cNvSpPr>
          <p:nvPr>
            <p:ph type="sldNum" sz="quarter" idx="12"/>
          </p:nvPr>
        </p:nvSpPr>
        <p:spPr/>
        <p:txBody>
          <a:bodyPr/>
          <a:lstStyle/>
          <a:p>
            <a:fld id="{3A98EE3D-8CD1-4C3F-BD1C-C98C9596463C}" type="slidenum">
              <a:rPr lang="en-US" smtClean="0"/>
              <a:pPr/>
              <a:t>9</a:t>
            </a:fld>
            <a:endParaRPr lang="en-US" dirty="0"/>
          </a:p>
        </p:txBody>
      </p:sp>
    </p:spTree>
    <p:extLst>
      <p:ext uri="{BB962C8B-B14F-4D97-AF65-F5344CB8AC3E}">
        <p14:creationId xmlns:p14="http://schemas.microsoft.com/office/powerpoint/2010/main" val="2650968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tantia" panose="02030602050306030303" pitchFamily="18" charset="0"/>
              </a:rPr>
              <a:t>Advantages</a:t>
            </a:r>
            <a:endParaRPr lang="en-IN" dirty="0">
              <a:latin typeface="Constantia" panose="02030602050306030303"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Enhanced Prediction Accuracy:</a:t>
            </a:r>
            <a:r>
              <a:rPr lang="en-US" dirty="0">
                <a:latin typeface="Times New Roman" panose="02020603050405020304" pitchFamily="18" charset="0"/>
                <a:cs typeface="Times New Roman" panose="02020603050405020304" pitchFamily="18" charset="0"/>
              </a:rPr>
              <a:t> Our model combines sentiment analysis on Twitter data with high-frequency data analysis, improving prediction accuracy by capturing market dynamics and public sentiment towards specific companies.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Comprehensive Market Understanding:</a:t>
            </a:r>
            <a:r>
              <a:rPr lang="en-US" dirty="0">
                <a:latin typeface="Times New Roman" panose="02020603050405020304" pitchFamily="18" charset="0"/>
                <a:cs typeface="Times New Roman" panose="02020603050405020304" pitchFamily="18" charset="0"/>
              </a:rPr>
              <a:t> By integrating sentiment analysis with high-frequency data analysis, our model provides a more comprehensive understanding of the market, enabling better-informed decision-making.</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37DCC70-8BA4-4F8A-6FB0-71BE5A89C205}"/>
              </a:ext>
            </a:extLst>
          </p:cNvPr>
          <p:cNvSpPr>
            <a:spLocks noGrp="1"/>
          </p:cNvSpPr>
          <p:nvPr>
            <p:ph type="sldNum" sz="quarter" idx="12"/>
          </p:nvPr>
        </p:nvSpPr>
        <p:spPr/>
        <p:txBody>
          <a:bodyPr/>
          <a:lstStyle/>
          <a:p>
            <a:fld id="{3A98EE3D-8CD1-4C3F-BD1C-C98C9596463C}" type="slidenum">
              <a:rPr lang="en-US" smtClean="0"/>
              <a:pPr/>
              <a:t>10</a:t>
            </a:fld>
            <a:endParaRPr lang="en-US" dirty="0"/>
          </a:p>
        </p:txBody>
      </p:sp>
    </p:spTree>
    <p:extLst>
      <p:ext uri="{BB962C8B-B14F-4D97-AF65-F5344CB8AC3E}">
        <p14:creationId xmlns:p14="http://schemas.microsoft.com/office/powerpoint/2010/main" val="3020425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tantia" panose="02030602050306030303" pitchFamily="18" charset="0"/>
              </a:rPr>
              <a:t>Disadvantages</a:t>
            </a:r>
            <a:endParaRPr lang="en-IN" dirty="0">
              <a:latin typeface="Constantia" panose="02030602050306030303"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Limited Predictive Power:</a:t>
            </a:r>
            <a:r>
              <a:rPr lang="en-US" dirty="0">
                <a:latin typeface="Times New Roman" panose="02020603050405020304" pitchFamily="18" charset="0"/>
                <a:cs typeface="Times New Roman" panose="02020603050405020304" pitchFamily="18" charset="0"/>
              </a:rPr>
              <a:t> Alpha Vantage and </a:t>
            </a:r>
            <a:r>
              <a:rPr lang="en-US" dirty="0" err="1">
                <a:latin typeface="Times New Roman" panose="02020603050405020304" pitchFamily="18" charset="0"/>
                <a:cs typeface="Times New Roman" panose="02020603050405020304" pitchFamily="18" charset="0"/>
              </a:rPr>
              <a:t>Quandl</a:t>
            </a:r>
            <a:r>
              <a:rPr lang="en-US" dirty="0">
                <a:latin typeface="Times New Roman" panose="02020603050405020304" pitchFamily="18" charset="0"/>
                <a:cs typeface="Times New Roman" panose="02020603050405020304" pitchFamily="18" charset="0"/>
              </a:rPr>
              <a:t> lack sentiment analysis integration, limiting insights into market sentiment and potential price movements.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Silos:</a:t>
            </a:r>
            <a:r>
              <a:rPr lang="en-US" dirty="0">
                <a:latin typeface="Times New Roman" panose="02020603050405020304" pitchFamily="18" charset="0"/>
                <a:cs typeface="Times New Roman" panose="02020603050405020304" pitchFamily="18" charset="0"/>
              </a:rPr>
              <a:t> These platforms focus on financial data, not integrating with news or social media, limiting analysis scope.</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Complexity and Cost:</a:t>
            </a:r>
            <a:r>
              <a:rPr lang="en-US" dirty="0">
                <a:latin typeface="Times New Roman" panose="02020603050405020304" pitchFamily="18" charset="0"/>
                <a:cs typeface="Times New Roman" panose="02020603050405020304" pitchFamily="18" charset="0"/>
              </a:rPr>
              <a:t> Implementing and maintaining these models can be complex and costly, requiring specialized knowledge, whereas sentiment analysis models are simpler to implement.</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6AD7EC9-2F91-550B-F94E-165E9127D94E}"/>
              </a:ext>
            </a:extLst>
          </p:cNvPr>
          <p:cNvSpPr>
            <a:spLocks noGrp="1"/>
          </p:cNvSpPr>
          <p:nvPr>
            <p:ph type="sldNum" sz="quarter" idx="12"/>
          </p:nvPr>
        </p:nvSpPr>
        <p:spPr/>
        <p:txBody>
          <a:bodyPr/>
          <a:lstStyle/>
          <a:p>
            <a:fld id="{3A98EE3D-8CD1-4C3F-BD1C-C98C9596463C}" type="slidenum">
              <a:rPr lang="en-US" smtClean="0"/>
              <a:pPr/>
              <a:t>11</a:t>
            </a:fld>
            <a:endParaRPr lang="en-US" dirty="0"/>
          </a:p>
        </p:txBody>
      </p:sp>
    </p:spTree>
    <p:extLst>
      <p:ext uri="{BB962C8B-B14F-4D97-AF65-F5344CB8AC3E}">
        <p14:creationId xmlns:p14="http://schemas.microsoft.com/office/powerpoint/2010/main" val="516687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tantia" panose="02030602050306030303" pitchFamily="18" charset="0"/>
              </a:rPr>
              <a:t>Architecture</a:t>
            </a:r>
            <a:endParaRPr lang="en-IN" dirty="0">
              <a:latin typeface="Constantia" panose="02030602050306030303" pitchFamily="18" charset="0"/>
            </a:endParaRPr>
          </a:p>
        </p:txBody>
      </p:sp>
      <p:sp>
        <p:nvSpPr>
          <p:cNvPr id="5" name="Down Arrow 4"/>
          <p:cNvSpPr/>
          <p:nvPr/>
        </p:nvSpPr>
        <p:spPr>
          <a:xfrm>
            <a:off x="7534140" y="5241701"/>
            <a:ext cx="45719" cy="551057"/>
          </a:xfrm>
          <a:prstGeom prst="downArrow">
            <a:avLst/>
          </a:prstGeom>
          <a:solidFill>
            <a:schemeClr val="tx1">
              <a:lumMod val="95000"/>
              <a:lumOff val="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a:extLst>
              <a:ext uri="{FF2B5EF4-FFF2-40B4-BE49-F238E27FC236}">
                <a16:creationId xmlns:a16="http://schemas.microsoft.com/office/drawing/2014/main" id="{CBBBC2E3-2D8C-B16F-F56C-E27F6B7ABB63}"/>
              </a:ext>
            </a:extLst>
          </p:cNvPr>
          <p:cNvSpPr>
            <a:spLocks noGrp="1"/>
          </p:cNvSpPr>
          <p:nvPr>
            <p:ph type="sldNum" sz="quarter" idx="12"/>
          </p:nvPr>
        </p:nvSpPr>
        <p:spPr/>
        <p:txBody>
          <a:bodyPr/>
          <a:lstStyle/>
          <a:p>
            <a:fld id="{3A98EE3D-8CD1-4C3F-BD1C-C98C9596463C}" type="slidenum">
              <a:rPr lang="en-US" smtClean="0"/>
              <a:pPr/>
              <a:t>12</a:t>
            </a:fld>
            <a:endParaRPr lang="en-US" dirty="0"/>
          </a:p>
        </p:txBody>
      </p:sp>
      <p:pic>
        <p:nvPicPr>
          <p:cNvPr id="9" name="Content Placeholder 8">
            <a:extLst>
              <a:ext uri="{FF2B5EF4-FFF2-40B4-BE49-F238E27FC236}">
                <a16:creationId xmlns:a16="http://schemas.microsoft.com/office/drawing/2014/main" id="{27938204-C491-7B53-0419-03D9FF5F7CE1}"/>
              </a:ext>
            </a:extLst>
          </p:cNvPr>
          <p:cNvPicPr>
            <a:picLocks noGrp="1" noChangeAspect="1"/>
          </p:cNvPicPr>
          <p:nvPr>
            <p:ph idx="1"/>
          </p:nvPr>
        </p:nvPicPr>
        <p:blipFill>
          <a:blip r:embed="rId2"/>
          <a:stretch>
            <a:fillRect/>
          </a:stretch>
        </p:blipFill>
        <p:spPr>
          <a:xfrm>
            <a:off x="4175739" y="2211705"/>
            <a:ext cx="3840522" cy="3760788"/>
          </a:xfrm>
        </p:spPr>
      </p:pic>
    </p:spTree>
    <p:extLst>
      <p:ext uri="{BB962C8B-B14F-4D97-AF65-F5344CB8AC3E}">
        <p14:creationId xmlns:p14="http://schemas.microsoft.com/office/powerpoint/2010/main" val="942154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059EA-36EE-E7EB-9F49-52C57206D0A2}"/>
              </a:ext>
            </a:extLst>
          </p:cNvPr>
          <p:cNvSpPr>
            <a:spLocks noGrp="1"/>
          </p:cNvSpPr>
          <p:nvPr>
            <p:ph type="title"/>
          </p:nvPr>
        </p:nvSpPr>
        <p:spPr/>
        <p:txBody>
          <a:bodyPr/>
          <a:lstStyle/>
          <a:p>
            <a:r>
              <a:rPr lang="en-IN" dirty="0">
                <a:latin typeface="Constantia" panose="02030602050306030303" pitchFamily="18" charset="0"/>
              </a:rPr>
              <a:t>Objectives</a:t>
            </a:r>
          </a:p>
        </p:txBody>
      </p:sp>
      <p:sp>
        <p:nvSpPr>
          <p:cNvPr id="3" name="Content Placeholder 2">
            <a:extLst>
              <a:ext uri="{FF2B5EF4-FFF2-40B4-BE49-F238E27FC236}">
                <a16:creationId xmlns:a16="http://schemas.microsoft.com/office/drawing/2014/main" id="{A3C73F5D-5D59-8692-DF9D-AEA8C43FF086}"/>
              </a:ext>
            </a:extLst>
          </p:cNvPr>
          <p:cNvSpPr>
            <a:spLocks noGrp="1"/>
          </p:cNvSpPr>
          <p:nvPr>
            <p:ph idx="1"/>
          </p:nvPr>
        </p:nvSpPr>
        <p:spPr/>
        <p:txBody>
          <a:bodyPr/>
          <a:lstStyle/>
          <a:p>
            <a:pPr marL="0" indent="0">
              <a:buNone/>
            </a:pPr>
            <a:endParaRPr lang="en-IN" dirty="0"/>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Building a Stock market prediction model  using machine learning algorithms and sentiment analysis. Using machine learning algorithms to build an accurate predictive model.</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By using Sentimental Analysis, we are analyzing the people’s opinion based on that we are predicting the accuracy.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Taking twitter tweets into consideration, the historic data and the tweets are being compared based on that we are selecting the best one of it.</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dirty="0"/>
          </a:p>
        </p:txBody>
      </p:sp>
      <p:sp>
        <p:nvSpPr>
          <p:cNvPr id="5" name="Slide Number Placeholder 4">
            <a:extLst>
              <a:ext uri="{FF2B5EF4-FFF2-40B4-BE49-F238E27FC236}">
                <a16:creationId xmlns:a16="http://schemas.microsoft.com/office/drawing/2014/main" id="{A98D0B76-6092-F28C-C3E2-7E31BD92C342}"/>
              </a:ext>
            </a:extLst>
          </p:cNvPr>
          <p:cNvSpPr>
            <a:spLocks noGrp="1"/>
          </p:cNvSpPr>
          <p:nvPr>
            <p:ph type="sldNum" sz="quarter" idx="12"/>
          </p:nvPr>
        </p:nvSpPr>
        <p:spPr/>
        <p:txBody>
          <a:bodyPr/>
          <a:lstStyle/>
          <a:p>
            <a:fld id="{3A98EE3D-8CD1-4C3F-BD1C-C98C9596463C}" type="slidenum">
              <a:rPr lang="en-US" smtClean="0"/>
              <a:pPr/>
              <a:t>13</a:t>
            </a:fld>
            <a:endParaRPr lang="en-US" dirty="0"/>
          </a:p>
        </p:txBody>
      </p:sp>
    </p:spTree>
    <p:extLst>
      <p:ext uri="{BB962C8B-B14F-4D97-AF65-F5344CB8AC3E}">
        <p14:creationId xmlns:p14="http://schemas.microsoft.com/office/powerpoint/2010/main" val="366191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AA097-D7F2-ECC7-1F9D-155B16DE3673}"/>
              </a:ext>
            </a:extLst>
          </p:cNvPr>
          <p:cNvSpPr>
            <a:spLocks noGrp="1"/>
          </p:cNvSpPr>
          <p:nvPr>
            <p:ph type="title"/>
          </p:nvPr>
        </p:nvSpPr>
        <p:spPr>
          <a:xfrm>
            <a:off x="1066800" y="216858"/>
            <a:ext cx="10058400" cy="1313597"/>
          </a:xfrm>
        </p:spPr>
        <p:txBody>
          <a:bodyPr>
            <a:normAutofit/>
          </a:bodyPr>
          <a:lstStyle/>
          <a:p>
            <a:r>
              <a:rPr lang="en-US" dirty="0">
                <a:latin typeface="Constantia" panose="02030602050306030303" pitchFamily="18" charset="0"/>
              </a:rPr>
              <a:t>Modules</a:t>
            </a:r>
            <a:endParaRPr lang="en-IN" dirty="0">
              <a:latin typeface="Constantia" panose="02030602050306030303"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Data Collection and Preparation</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Data Transformation and Algorithm Application </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Model Evaluation and Deployment</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Random Forest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Linear Discriminant Analysis</a:t>
            </a:r>
          </a:p>
        </p:txBody>
      </p:sp>
      <p:sp>
        <p:nvSpPr>
          <p:cNvPr id="5" name="Slide Number Placeholder 4">
            <a:extLst>
              <a:ext uri="{FF2B5EF4-FFF2-40B4-BE49-F238E27FC236}">
                <a16:creationId xmlns:a16="http://schemas.microsoft.com/office/drawing/2014/main" id="{8A30D6A3-3470-91A7-3276-E5724610B49D}"/>
              </a:ext>
            </a:extLst>
          </p:cNvPr>
          <p:cNvSpPr>
            <a:spLocks noGrp="1"/>
          </p:cNvSpPr>
          <p:nvPr>
            <p:ph type="sldNum" sz="quarter" idx="12"/>
          </p:nvPr>
        </p:nvSpPr>
        <p:spPr/>
        <p:txBody>
          <a:bodyPr/>
          <a:lstStyle/>
          <a:p>
            <a:fld id="{3A98EE3D-8CD1-4C3F-BD1C-C98C9596463C}" type="slidenum">
              <a:rPr lang="en-US" smtClean="0"/>
              <a:pPr/>
              <a:t>14</a:t>
            </a:fld>
            <a:endParaRPr lang="en-US" dirty="0"/>
          </a:p>
        </p:txBody>
      </p:sp>
    </p:spTree>
    <p:extLst>
      <p:ext uri="{BB962C8B-B14F-4D97-AF65-F5344CB8AC3E}">
        <p14:creationId xmlns:p14="http://schemas.microsoft.com/office/powerpoint/2010/main" val="1039975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D129A-2A60-AFDB-3114-D2A8C14F85AD}"/>
              </a:ext>
            </a:extLst>
          </p:cNvPr>
          <p:cNvSpPr>
            <a:spLocks noGrp="1"/>
          </p:cNvSpPr>
          <p:nvPr>
            <p:ph type="title"/>
          </p:nvPr>
        </p:nvSpPr>
        <p:spPr>
          <a:xfrm>
            <a:off x="1097280" y="286604"/>
            <a:ext cx="10058400" cy="1395240"/>
          </a:xfrm>
        </p:spPr>
        <p:txBody>
          <a:bodyPr/>
          <a:lstStyle/>
          <a:p>
            <a:r>
              <a:rPr lang="en-US" dirty="0">
                <a:latin typeface="Constantia" panose="02030602050306030303" pitchFamily="18" charset="0"/>
              </a:rPr>
              <a:t>Methodology</a:t>
            </a:r>
            <a:endParaRPr lang="en-IN" dirty="0">
              <a:latin typeface="Constantia" panose="02030602050306030303" pitchFamily="18" charset="0"/>
            </a:endParaRPr>
          </a:p>
        </p:txBody>
      </p:sp>
      <p:sp>
        <p:nvSpPr>
          <p:cNvPr id="3" name="Content Placeholder 2">
            <a:extLst>
              <a:ext uri="{FF2B5EF4-FFF2-40B4-BE49-F238E27FC236}">
                <a16:creationId xmlns:a16="http://schemas.microsoft.com/office/drawing/2014/main" id="{0B3D5CC3-1104-5B5C-CE8F-CE2C999A6373}"/>
              </a:ext>
            </a:extLst>
          </p:cNvPr>
          <p:cNvSpPr>
            <a:spLocks noGrp="1"/>
          </p:cNvSpPr>
          <p:nvPr>
            <p:ph idx="1"/>
          </p:nvPr>
        </p:nvSpPr>
        <p:spPr>
          <a:xfrm>
            <a:off x="1064500" y="1987827"/>
            <a:ext cx="10058400" cy="4301656"/>
          </a:xfrm>
        </p:spPr>
        <p:txBody>
          <a:bodyPr>
            <a:noAutofit/>
          </a:bodyPr>
          <a:lstStyle/>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Data Collection:</a:t>
            </a:r>
          </a:p>
          <a:p>
            <a:pPr marL="0" indent="0">
              <a:buNone/>
            </a:pPr>
            <a:r>
              <a:rPr lang="en-IN" dirty="0">
                <a:latin typeface="Times New Roman" panose="02020603050405020304" pitchFamily="18" charset="0"/>
                <a:cs typeface="Times New Roman" panose="02020603050405020304" pitchFamily="18" charset="0"/>
              </a:rPr>
              <a:t>   This investigation makes use  Stock_tweets and Stock_yfinance_Data  Datasets </a:t>
            </a:r>
          </a:p>
          <a:p>
            <a:r>
              <a:rPr lang="en-US" b="1" dirty="0">
                <a:latin typeface="Times New Roman" panose="02020603050405020304" pitchFamily="18" charset="0"/>
                <a:cs typeface="Times New Roman" panose="02020603050405020304" pitchFamily="18" charset="0"/>
              </a:rPr>
              <a:t>APIs</a:t>
            </a:r>
            <a:r>
              <a:rPr lang="en-US" dirty="0">
                <a:latin typeface="Times New Roman" panose="02020603050405020304" pitchFamily="18" charset="0"/>
                <a:cs typeface="Times New Roman" panose="02020603050405020304" pitchFamily="18" charset="0"/>
              </a:rPr>
              <a:t>: Utilize APIs provided by financial data sources like Alpha Vantage, Yahoo Finance, or Google Finance to gather real-time or historical stock price data.</a:t>
            </a:r>
          </a:p>
          <a:p>
            <a:r>
              <a:rPr lang="en-US" b="1" dirty="0">
                <a:latin typeface="Times New Roman" panose="02020603050405020304" pitchFamily="18" charset="0"/>
                <a:cs typeface="Times New Roman" panose="02020603050405020304" pitchFamily="18" charset="0"/>
              </a:rPr>
              <a:t>Social Media APIs</a:t>
            </a:r>
            <a:r>
              <a:rPr lang="en-US" dirty="0">
                <a:latin typeface="Times New Roman" panose="02020603050405020304" pitchFamily="18" charset="0"/>
                <a:cs typeface="Times New Roman" panose="02020603050405020304" pitchFamily="18" charset="0"/>
              </a:rPr>
              <a:t>: Platforms like Twitter, Reddit, or Stock Twits offer APIs to fetch relevant tweets or posts related to specific stocks.</a:t>
            </a:r>
            <a:endParaRPr lang="en-IN"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2603F95-3071-CE93-A8CA-43D09BE640D9}"/>
              </a:ext>
            </a:extLst>
          </p:cNvPr>
          <p:cNvSpPr>
            <a:spLocks noGrp="1"/>
          </p:cNvSpPr>
          <p:nvPr>
            <p:ph type="sldNum" sz="quarter" idx="12"/>
          </p:nvPr>
        </p:nvSpPr>
        <p:spPr/>
        <p:txBody>
          <a:bodyPr/>
          <a:lstStyle/>
          <a:p>
            <a:fld id="{3A98EE3D-8CD1-4C3F-BD1C-C98C9596463C}" type="slidenum">
              <a:rPr lang="en-US" smtClean="0"/>
              <a:pPr/>
              <a:t>15</a:t>
            </a:fld>
            <a:endParaRPr lang="en-US" dirty="0"/>
          </a:p>
        </p:txBody>
      </p:sp>
    </p:spTree>
    <p:extLst>
      <p:ext uri="{BB962C8B-B14F-4D97-AF65-F5344CB8AC3E}">
        <p14:creationId xmlns:p14="http://schemas.microsoft.com/office/powerpoint/2010/main" val="4099624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9ABFD-82C9-526D-74B6-E0E2C39547C8}"/>
              </a:ext>
            </a:extLst>
          </p:cNvPr>
          <p:cNvSpPr>
            <a:spLocks noGrp="1"/>
          </p:cNvSpPr>
          <p:nvPr>
            <p:ph type="title"/>
          </p:nvPr>
        </p:nvSpPr>
        <p:spPr/>
        <p:txBody>
          <a:bodyPr/>
          <a:lstStyle/>
          <a:p>
            <a:r>
              <a:rPr lang="en-US" dirty="0">
                <a:latin typeface="Constantia" panose="02030602050306030303" pitchFamily="18" charset="0"/>
              </a:rPr>
              <a:t>Methodology</a:t>
            </a:r>
            <a:endParaRPr lang="en-IN" dirty="0"/>
          </a:p>
        </p:txBody>
      </p:sp>
      <p:sp>
        <p:nvSpPr>
          <p:cNvPr id="3" name="Content Placeholder 2">
            <a:extLst>
              <a:ext uri="{FF2B5EF4-FFF2-40B4-BE49-F238E27FC236}">
                <a16:creationId xmlns:a16="http://schemas.microsoft.com/office/drawing/2014/main" id="{69D4E4F3-11EB-AF1B-71BB-6023BE215DC9}"/>
              </a:ext>
            </a:extLst>
          </p:cNvPr>
          <p:cNvSpPr>
            <a:spLocks noGrp="1"/>
          </p:cNvSpPr>
          <p:nvPr>
            <p:ph idx="1"/>
          </p:nvPr>
        </p:nvSpPr>
        <p:spPr/>
        <p:txBody>
          <a:bodyPr/>
          <a:lstStyle/>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Data preprocessing:</a:t>
            </a:r>
            <a:endParaRPr lang="en-IN"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Data Cleaning</a:t>
            </a:r>
            <a:r>
              <a:rPr lang="en-US" dirty="0">
                <a:latin typeface="Times New Roman" panose="02020603050405020304" pitchFamily="18" charset="0"/>
                <a:cs typeface="Times New Roman" panose="02020603050405020304" pitchFamily="18" charset="0"/>
              </a:rPr>
              <a:t>: Removing stopwords, punctuation, and other noise from the text data.</a:t>
            </a:r>
          </a:p>
          <a:p>
            <a:r>
              <a:rPr lang="en-US" b="1" dirty="0">
                <a:latin typeface="Times New Roman" panose="02020603050405020304" pitchFamily="18" charset="0"/>
                <a:cs typeface="Times New Roman" panose="02020603050405020304" pitchFamily="18" charset="0"/>
              </a:rPr>
              <a:t>Data Transformation</a:t>
            </a:r>
            <a:r>
              <a:rPr lang="en-US" dirty="0">
                <a:latin typeface="Times New Roman" panose="02020603050405020304" pitchFamily="18" charset="0"/>
                <a:cs typeface="Times New Roman" panose="02020603050405020304" pitchFamily="18" charset="0"/>
              </a:rPr>
              <a:t>: Data transformation is a crucial step in preparing data for analysis or modeling. In the context of a stock prediction project using sentiment analysis, data transformation involves converting raw data into a format suitable for analysis or feeding into machine learning models.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Sentiment analysis: </a:t>
            </a:r>
          </a:p>
          <a:p>
            <a:pPr marL="0" indent="0">
              <a:buNone/>
            </a:pPr>
            <a:r>
              <a:rPr lang="en-US" dirty="0">
                <a:latin typeface="Times New Roman" panose="02020603050405020304" pitchFamily="18" charset="0"/>
                <a:cs typeface="Times New Roman" panose="02020603050405020304" pitchFamily="18" charset="0"/>
              </a:rPr>
              <a:t>   In this step we are calculating the percentage in the form of positive ,neural and negative.</a:t>
            </a:r>
          </a:p>
          <a:p>
            <a:pPr marL="0" indent="0">
              <a:buNone/>
            </a:pPr>
            <a:endParaRPr lang="en-US" dirty="0">
              <a:latin typeface="Times New Roman" panose="02020603050405020304" pitchFamily="18" charset="0"/>
              <a:cs typeface="Times New Roman" panose="02020603050405020304" pitchFamily="18" charset="0"/>
            </a:endParaRPr>
          </a:p>
          <a:p>
            <a:endParaRPr lang="en-IN" dirty="0"/>
          </a:p>
        </p:txBody>
      </p:sp>
      <p:sp>
        <p:nvSpPr>
          <p:cNvPr id="5" name="Slide Number Placeholder 4">
            <a:extLst>
              <a:ext uri="{FF2B5EF4-FFF2-40B4-BE49-F238E27FC236}">
                <a16:creationId xmlns:a16="http://schemas.microsoft.com/office/drawing/2014/main" id="{F7628C10-97AF-D6C3-AEC3-44DD520C216C}"/>
              </a:ext>
            </a:extLst>
          </p:cNvPr>
          <p:cNvSpPr>
            <a:spLocks noGrp="1"/>
          </p:cNvSpPr>
          <p:nvPr>
            <p:ph type="sldNum" sz="quarter" idx="12"/>
          </p:nvPr>
        </p:nvSpPr>
        <p:spPr/>
        <p:txBody>
          <a:bodyPr/>
          <a:lstStyle/>
          <a:p>
            <a:fld id="{3A98EE3D-8CD1-4C3F-BD1C-C98C9596463C}" type="slidenum">
              <a:rPr lang="en-US" smtClean="0"/>
              <a:pPr/>
              <a:t>16</a:t>
            </a:fld>
            <a:endParaRPr lang="en-US" dirty="0"/>
          </a:p>
        </p:txBody>
      </p:sp>
    </p:spTree>
    <p:extLst>
      <p:ext uri="{BB962C8B-B14F-4D97-AF65-F5344CB8AC3E}">
        <p14:creationId xmlns:p14="http://schemas.microsoft.com/office/powerpoint/2010/main" val="4015628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D129A-2A60-AFDB-3114-D2A8C14F85AD}"/>
              </a:ext>
            </a:extLst>
          </p:cNvPr>
          <p:cNvSpPr>
            <a:spLocks noGrp="1"/>
          </p:cNvSpPr>
          <p:nvPr>
            <p:ph type="title"/>
          </p:nvPr>
        </p:nvSpPr>
        <p:spPr>
          <a:xfrm>
            <a:off x="1097280" y="286604"/>
            <a:ext cx="10058400" cy="1395240"/>
          </a:xfrm>
        </p:spPr>
        <p:txBody>
          <a:bodyPr/>
          <a:lstStyle/>
          <a:p>
            <a:r>
              <a:rPr lang="en-US" dirty="0">
                <a:latin typeface="Constantia" panose="02030602050306030303" pitchFamily="18" charset="0"/>
              </a:rPr>
              <a:t>Methodology</a:t>
            </a:r>
            <a:endParaRPr lang="en-IN" dirty="0">
              <a:latin typeface="Constantia" panose="02030602050306030303" pitchFamily="18" charset="0"/>
            </a:endParaRPr>
          </a:p>
        </p:txBody>
      </p:sp>
      <p:sp>
        <p:nvSpPr>
          <p:cNvPr id="3" name="Content Placeholder 2">
            <a:extLst>
              <a:ext uri="{FF2B5EF4-FFF2-40B4-BE49-F238E27FC236}">
                <a16:creationId xmlns:a16="http://schemas.microsoft.com/office/drawing/2014/main" id="{0B3D5CC3-1104-5B5C-CE8F-CE2C999A6373}"/>
              </a:ext>
            </a:extLst>
          </p:cNvPr>
          <p:cNvSpPr>
            <a:spLocks noGrp="1"/>
          </p:cNvSpPr>
          <p:nvPr>
            <p:ph idx="1"/>
          </p:nvPr>
        </p:nvSpPr>
        <p:spPr>
          <a:xfrm>
            <a:off x="1009290" y="2078966"/>
            <a:ext cx="10056237" cy="4180167"/>
          </a:xfrm>
        </p:spPr>
        <p:txBody>
          <a:bodyPr>
            <a:normAutofit/>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Feature Set Creation:</a:t>
            </a:r>
          </a:p>
          <a:p>
            <a:pPr marL="0" indent="0">
              <a:buNone/>
            </a:pPr>
            <a:r>
              <a:rPr lang="en-US" dirty="0">
                <a:latin typeface="Times New Roman" panose="02020603050405020304" pitchFamily="18" charset="0"/>
                <a:cs typeface="Times New Roman" panose="02020603050405020304" pitchFamily="18" charset="0"/>
              </a:rPr>
              <a:t>In the context of a stock prediction project using sentiment analysis, feature extraction involves converting raw data into numerical representations that can be used as inputs to machine learning models.</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Model training:</a:t>
            </a:r>
          </a:p>
          <a:p>
            <a:pPr marL="0" indent="0">
              <a:buNone/>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Once you've extracted relevant features from your data, the next step in a stock prediction project using sentiment analysis is to train machine learning models.</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Train the Random forest and SVM models with the merged dataset.</a:t>
            </a:r>
          </a:p>
          <a:p>
            <a:pPr marL="0" indent="0">
              <a:buNone/>
            </a:pPr>
            <a:endParaRPr lang="en-US" dirty="0"/>
          </a:p>
          <a:p>
            <a:pPr marL="0" indent="0">
              <a:buNone/>
            </a:pPr>
            <a:endParaRPr lang="en-US" dirty="0"/>
          </a:p>
        </p:txBody>
      </p:sp>
      <p:sp>
        <p:nvSpPr>
          <p:cNvPr id="5" name="Slide Number Placeholder 4">
            <a:extLst>
              <a:ext uri="{FF2B5EF4-FFF2-40B4-BE49-F238E27FC236}">
                <a16:creationId xmlns:a16="http://schemas.microsoft.com/office/drawing/2014/main" id="{DFECFD87-A6C7-ACE0-636F-1EA7F06995FF}"/>
              </a:ext>
            </a:extLst>
          </p:cNvPr>
          <p:cNvSpPr>
            <a:spLocks noGrp="1"/>
          </p:cNvSpPr>
          <p:nvPr>
            <p:ph type="sldNum" sz="quarter" idx="12"/>
          </p:nvPr>
        </p:nvSpPr>
        <p:spPr/>
        <p:txBody>
          <a:bodyPr/>
          <a:lstStyle/>
          <a:p>
            <a:fld id="{3A98EE3D-8CD1-4C3F-BD1C-C98C9596463C}" type="slidenum">
              <a:rPr lang="en-US" smtClean="0"/>
              <a:pPr/>
              <a:t>17</a:t>
            </a:fld>
            <a:endParaRPr lang="en-US" dirty="0"/>
          </a:p>
        </p:txBody>
      </p:sp>
    </p:spTree>
    <p:extLst>
      <p:ext uri="{BB962C8B-B14F-4D97-AF65-F5344CB8AC3E}">
        <p14:creationId xmlns:p14="http://schemas.microsoft.com/office/powerpoint/2010/main" val="257029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6E85-C657-6B66-E962-114D41D2EC5C}"/>
              </a:ext>
            </a:extLst>
          </p:cNvPr>
          <p:cNvSpPr>
            <a:spLocks noGrp="1"/>
          </p:cNvSpPr>
          <p:nvPr>
            <p:ph type="title"/>
          </p:nvPr>
        </p:nvSpPr>
        <p:spPr/>
        <p:txBody>
          <a:bodyPr/>
          <a:lstStyle/>
          <a:p>
            <a:r>
              <a:rPr lang="en-US" dirty="0">
                <a:latin typeface="Constantia" panose="02030602050306030303" pitchFamily="18" charset="0"/>
              </a:rPr>
              <a:t>Methodology</a:t>
            </a:r>
            <a:endParaRPr lang="en-IN" dirty="0"/>
          </a:p>
        </p:txBody>
      </p:sp>
      <p:sp>
        <p:nvSpPr>
          <p:cNvPr id="3" name="Content Placeholder 2">
            <a:extLst>
              <a:ext uri="{FF2B5EF4-FFF2-40B4-BE49-F238E27FC236}">
                <a16:creationId xmlns:a16="http://schemas.microsoft.com/office/drawing/2014/main" id="{BC0B7935-E3ED-2B02-8AFB-132F648820EC}"/>
              </a:ext>
            </a:extLst>
          </p:cNvPr>
          <p:cNvSpPr>
            <a:spLocks noGrp="1"/>
          </p:cNvSpPr>
          <p:nvPr>
            <p:ph idx="1"/>
          </p:nvPr>
        </p:nvSpPr>
        <p:spPr/>
        <p:txBody>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Prediction:</a:t>
            </a:r>
          </a:p>
          <a:p>
            <a:pPr marL="0" indent="0">
              <a:buNone/>
            </a:pPr>
            <a:r>
              <a:rPr lang="en-US" dirty="0">
                <a:latin typeface="Times New Roman" panose="02020603050405020304" pitchFamily="18" charset="0"/>
                <a:cs typeface="Times New Roman" panose="02020603050405020304" pitchFamily="18" charset="0"/>
              </a:rPr>
              <a:t>After completion of training the model for stock prediction using sentiment analysis, the next steps involve making predictions on new data and evaluating the model's performance. Use the trained model to make predictions on new or unseen data. This data should be separate from the training, validation, and test sets used during model development.</a:t>
            </a:r>
          </a:p>
          <a:p>
            <a:endParaRPr lang="en-IN" dirty="0"/>
          </a:p>
        </p:txBody>
      </p:sp>
      <p:sp>
        <p:nvSpPr>
          <p:cNvPr id="5" name="Slide Number Placeholder 4">
            <a:extLst>
              <a:ext uri="{FF2B5EF4-FFF2-40B4-BE49-F238E27FC236}">
                <a16:creationId xmlns:a16="http://schemas.microsoft.com/office/drawing/2014/main" id="{38AC5445-8BC1-D073-099E-5AC038721B95}"/>
              </a:ext>
            </a:extLst>
          </p:cNvPr>
          <p:cNvSpPr>
            <a:spLocks noGrp="1"/>
          </p:cNvSpPr>
          <p:nvPr>
            <p:ph type="sldNum" sz="quarter" idx="12"/>
          </p:nvPr>
        </p:nvSpPr>
        <p:spPr/>
        <p:txBody>
          <a:bodyPr/>
          <a:lstStyle/>
          <a:p>
            <a:fld id="{3A98EE3D-8CD1-4C3F-BD1C-C98C9596463C}" type="slidenum">
              <a:rPr lang="en-US" smtClean="0"/>
              <a:pPr/>
              <a:t>18</a:t>
            </a:fld>
            <a:endParaRPr lang="en-US" dirty="0"/>
          </a:p>
        </p:txBody>
      </p:sp>
    </p:spTree>
    <p:extLst>
      <p:ext uri="{BB962C8B-B14F-4D97-AF65-F5344CB8AC3E}">
        <p14:creationId xmlns:p14="http://schemas.microsoft.com/office/powerpoint/2010/main" val="3728895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D6D1-83C5-68C8-AA87-78170DEBCA39}"/>
              </a:ext>
            </a:extLst>
          </p:cNvPr>
          <p:cNvSpPr>
            <a:spLocks noGrp="1"/>
          </p:cNvSpPr>
          <p:nvPr>
            <p:ph type="title"/>
          </p:nvPr>
        </p:nvSpPr>
        <p:spPr/>
        <p:txBody>
          <a:bodyPr/>
          <a:lstStyle/>
          <a:p>
            <a:r>
              <a:rPr lang="en-IN" dirty="0">
                <a:latin typeface="Constantia" panose="02030602050306030303" pitchFamily="18" charset="0"/>
              </a:rPr>
              <a:t>Algorithms for stock market prediction</a:t>
            </a:r>
          </a:p>
        </p:txBody>
      </p:sp>
      <p:sp>
        <p:nvSpPr>
          <p:cNvPr id="3" name="Content Placeholder 2">
            <a:extLst>
              <a:ext uri="{FF2B5EF4-FFF2-40B4-BE49-F238E27FC236}">
                <a16:creationId xmlns:a16="http://schemas.microsoft.com/office/drawing/2014/main" id="{41289AFC-97F2-7E0A-8CB7-069749081918}"/>
              </a:ext>
            </a:extLst>
          </p:cNvPr>
          <p:cNvSpPr>
            <a:spLocks noGrp="1"/>
          </p:cNvSpPr>
          <p:nvPr>
            <p:ph idx="1"/>
          </p:nvPr>
        </p:nvSpPr>
        <p:spPr/>
        <p:txBody>
          <a:bodyPr>
            <a:normAutofit/>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Random Forest(RF):</a:t>
            </a:r>
          </a:p>
          <a:p>
            <a:pPr marL="0" indent="0">
              <a:buNone/>
            </a:pPr>
            <a:r>
              <a:rPr lang="en-US" dirty="0">
                <a:latin typeface="Times New Roman" panose="02020603050405020304" pitchFamily="18" charset="0"/>
                <a:cs typeface="Times New Roman" panose="02020603050405020304" pitchFamily="18" charset="0"/>
              </a:rPr>
              <a:t>Random Forest is a popular ensemble learning algorithm used in both classification and regression tasks. It helps in reducing overfitting and increasing model robustness.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Linear Discriminant Analysis(LDA):</a:t>
            </a:r>
          </a:p>
          <a:p>
            <a:pPr marL="0" indent="0">
              <a:buNone/>
            </a:pPr>
            <a:r>
              <a:rPr lang="en-US" dirty="0">
                <a:latin typeface="Times New Roman" panose="02020603050405020304" pitchFamily="18" charset="0"/>
                <a:cs typeface="Times New Roman" panose="02020603050405020304" pitchFamily="18" charset="0"/>
              </a:rPr>
              <a:t>LDA can handle both linear and non-linear decision boundaries through the use of different kernel functions. LDA is effective in high-dimensional spaces and is robust against overfitting, especially in cases where the number of features exceeds the number of samples. </a:t>
            </a:r>
          </a:p>
          <a:p>
            <a:pPr marL="0" indent="0">
              <a:buNone/>
            </a:pPr>
            <a:endParaRPr lang="en-US" sz="1800" dirty="0"/>
          </a:p>
          <a:p>
            <a:pPr marL="0" indent="0">
              <a:buNone/>
            </a:pPr>
            <a:endParaRPr lang="en-US" sz="1800" b="1" dirty="0"/>
          </a:p>
          <a:p>
            <a:pPr marL="0" indent="0">
              <a:buNone/>
            </a:pPr>
            <a:endParaRPr lang="en-US" dirty="0"/>
          </a:p>
          <a:p>
            <a:pPr marL="0" indent="0">
              <a:buNone/>
            </a:pPr>
            <a:endParaRPr lang="en-US" dirty="0"/>
          </a:p>
        </p:txBody>
      </p:sp>
      <p:sp>
        <p:nvSpPr>
          <p:cNvPr id="5" name="Slide Number Placeholder 4">
            <a:extLst>
              <a:ext uri="{FF2B5EF4-FFF2-40B4-BE49-F238E27FC236}">
                <a16:creationId xmlns:a16="http://schemas.microsoft.com/office/drawing/2014/main" id="{9B5D85EE-34B2-6F78-8F03-9BF1191793F2}"/>
              </a:ext>
            </a:extLst>
          </p:cNvPr>
          <p:cNvSpPr>
            <a:spLocks noGrp="1"/>
          </p:cNvSpPr>
          <p:nvPr>
            <p:ph type="sldNum" sz="quarter" idx="12"/>
          </p:nvPr>
        </p:nvSpPr>
        <p:spPr/>
        <p:txBody>
          <a:bodyPr/>
          <a:lstStyle/>
          <a:p>
            <a:fld id="{3A98EE3D-8CD1-4C3F-BD1C-C98C9596463C}" type="slidenum">
              <a:rPr lang="en-US" smtClean="0"/>
              <a:pPr/>
              <a:t>19</a:t>
            </a:fld>
            <a:endParaRPr lang="en-US" dirty="0"/>
          </a:p>
        </p:txBody>
      </p:sp>
    </p:spTree>
    <p:extLst>
      <p:ext uri="{BB962C8B-B14F-4D97-AF65-F5344CB8AC3E}">
        <p14:creationId xmlns:p14="http://schemas.microsoft.com/office/powerpoint/2010/main" val="1382568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3D2EF-EDBC-9A00-6916-01FCF6D9084F}"/>
              </a:ext>
            </a:extLst>
          </p:cNvPr>
          <p:cNvSpPr>
            <a:spLocks noGrp="1"/>
          </p:cNvSpPr>
          <p:nvPr>
            <p:ph type="title"/>
          </p:nvPr>
        </p:nvSpPr>
        <p:spPr/>
        <p:txBody>
          <a:bodyPr/>
          <a:lstStyle/>
          <a:p>
            <a:r>
              <a:rPr lang="en-IN" dirty="0"/>
              <a:t>Comparison of Models</a:t>
            </a:r>
          </a:p>
        </p:txBody>
      </p:sp>
      <p:pic>
        <p:nvPicPr>
          <p:cNvPr id="6" name="Content Placeholder 5">
            <a:extLst>
              <a:ext uri="{FF2B5EF4-FFF2-40B4-BE49-F238E27FC236}">
                <a16:creationId xmlns:a16="http://schemas.microsoft.com/office/drawing/2014/main" id="{52924DBD-E6CD-2CCD-355B-B82DDED6A293}"/>
              </a:ext>
            </a:extLst>
          </p:cNvPr>
          <p:cNvPicPr>
            <a:picLocks noGrp="1" noChangeAspect="1"/>
          </p:cNvPicPr>
          <p:nvPr>
            <p:ph idx="1"/>
          </p:nvPr>
        </p:nvPicPr>
        <p:blipFill>
          <a:blip r:embed="rId2"/>
          <a:stretch>
            <a:fillRect/>
          </a:stretch>
        </p:blipFill>
        <p:spPr>
          <a:xfrm>
            <a:off x="1827792" y="2084754"/>
            <a:ext cx="8034034" cy="3760788"/>
          </a:xfrm>
        </p:spPr>
      </p:pic>
      <p:sp>
        <p:nvSpPr>
          <p:cNvPr id="4" name="Slide Number Placeholder 3">
            <a:extLst>
              <a:ext uri="{FF2B5EF4-FFF2-40B4-BE49-F238E27FC236}">
                <a16:creationId xmlns:a16="http://schemas.microsoft.com/office/drawing/2014/main" id="{1688BC0B-3930-FBB8-6AFA-14717D7DA59A}"/>
              </a:ext>
            </a:extLst>
          </p:cNvPr>
          <p:cNvSpPr>
            <a:spLocks noGrp="1"/>
          </p:cNvSpPr>
          <p:nvPr>
            <p:ph type="sldNum" sz="quarter" idx="12"/>
          </p:nvPr>
        </p:nvSpPr>
        <p:spPr/>
        <p:txBody>
          <a:bodyPr/>
          <a:lstStyle/>
          <a:p>
            <a:fld id="{3A98EE3D-8CD1-4C3F-BD1C-C98C9596463C}" type="slidenum">
              <a:rPr lang="en-US" smtClean="0"/>
              <a:pPr/>
              <a:t>20</a:t>
            </a:fld>
            <a:endParaRPr lang="en-US" dirty="0"/>
          </a:p>
        </p:txBody>
      </p:sp>
    </p:spTree>
    <p:extLst>
      <p:ext uri="{BB962C8B-B14F-4D97-AF65-F5344CB8AC3E}">
        <p14:creationId xmlns:p14="http://schemas.microsoft.com/office/powerpoint/2010/main" val="2229261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tantia" panose="02030602050306030303" pitchFamily="18" charset="0"/>
              </a:rPr>
              <a:t>Model Performance metrics</a:t>
            </a:r>
            <a:endParaRPr lang="en-IN" dirty="0">
              <a:latin typeface="Constantia" panose="02030602050306030303" pitchFamily="18" charset="0"/>
            </a:endParaRPr>
          </a:p>
        </p:txBody>
      </p:sp>
      <p:pic>
        <p:nvPicPr>
          <p:cNvPr id="7" name="Content Placeholder 6">
            <a:extLst>
              <a:ext uri="{FF2B5EF4-FFF2-40B4-BE49-F238E27FC236}">
                <a16:creationId xmlns:a16="http://schemas.microsoft.com/office/drawing/2014/main" id="{6D501DB5-43A6-F68E-F85C-B5ECB37B167F}"/>
              </a:ext>
            </a:extLst>
          </p:cNvPr>
          <p:cNvPicPr>
            <a:picLocks noGrp="1" noChangeAspect="1"/>
          </p:cNvPicPr>
          <p:nvPr>
            <p:ph idx="1"/>
          </p:nvPr>
        </p:nvPicPr>
        <p:blipFill>
          <a:blip r:embed="rId2"/>
          <a:stretch>
            <a:fillRect/>
          </a:stretch>
        </p:blipFill>
        <p:spPr>
          <a:xfrm>
            <a:off x="2907323" y="2069123"/>
            <a:ext cx="5228573" cy="3760788"/>
          </a:xfrm>
        </p:spPr>
      </p:pic>
      <p:sp>
        <p:nvSpPr>
          <p:cNvPr id="6" name="Slide Number Placeholder 5">
            <a:extLst>
              <a:ext uri="{FF2B5EF4-FFF2-40B4-BE49-F238E27FC236}">
                <a16:creationId xmlns:a16="http://schemas.microsoft.com/office/drawing/2014/main" id="{AA75DEC9-83E2-C694-137D-40CCF47A387A}"/>
              </a:ext>
            </a:extLst>
          </p:cNvPr>
          <p:cNvSpPr>
            <a:spLocks noGrp="1"/>
          </p:cNvSpPr>
          <p:nvPr>
            <p:ph type="sldNum" sz="quarter" idx="12"/>
          </p:nvPr>
        </p:nvSpPr>
        <p:spPr/>
        <p:txBody>
          <a:bodyPr/>
          <a:lstStyle/>
          <a:p>
            <a:fld id="{3A98EE3D-8CD1-4C3F-BD1C-C98C9596463C}" type="slidenum">
              <a:rPr lang="en-US" smtClean="0"/>
              <a:pPr/>
              <a:t>21</a:t>
            </a:fld>
            <a:endParaRPr lang="en-US" dirty="0"/>
          </a:p>
        </p:txBody>
      </p:sp>
    </p:spTree>
    <p:extLst>
      <p:ext uri="{BB962C8B-B14F-4D97-AF65-F5344CB8AC3E}">
        <p14:creationId xmlns:p14="http://schemas.microsoft.com/office/powerpoint/2010/main" val="2690180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7973-1368-3FF8-F07B-A6BD034C6AC3}"/>
              </a:ext>
            </a:extLst>
          </p:cNvPr>
          <p:cNvSpPr>
            <a:spLocks noGrp="1"/>
          </p:cNvSpPr>
          <p:nvPr>
            <p:ph type="title"/>
          </p:nvPr>
        </p:nvSpPr>
        <p:spPr>
          <a:xfrm>
            <a:off x="1097280" y="286603"/>
            <a:ext cx="10058400" cy="814409"/>
          </a:xfrm>
        </p:spPr>
        <p:txBody>
          <a:bodyPr/>
          <a:lstStyle/>
          <a:p>
            <a:r>
              <a:rPr lang="en-IN" dirty="0">
                <a:latin typeface="Constantia" panose="02030602050306030303" pitchFamily="18" charset="0"/>
              </a:rPr>
              <a:t>Results</a:t>
            </a:r>
          </a:p>
        </p:txBody>
      </p:sp>
      <p:sp>
        <p:nvSpPr>
          <p:cNvPr id="3" name="Content Placeholder 2">
            <a:extLst>
              <a:ext uri="{FF2B5EF4-FFF2-40B4-BE49-F238E27FC236}">
                <a16:creationId xmlns:a16="http://schemas.microsoft.com/office/drawing/2014/main" id="{E87F17DD-901F-37DE-C791-D9AD5AC40AD2}"/>
              </a:ext>
            </a:extLst>
          </p:cNvPr>
          <p:cNvSpPr>
            <a:spLocks noGrp="1"/>
          </p:cNvSpPr>
          <p:nvPr>
            <p:ph sz="half" idx="1"/>
          </p:nvPr>
        </p:nvSpPr>
        <p:spPr/>
        <p:txBody>
          <a:bodyPr>
            <a:normAutofit/>
          </a:bodyPr>
          <a:lstStyle/>
          <a:p>
            <a:pPr marL="0" indent="0" algn="l">
              <a:buNone/>
            </a:pPr>
            <a:br>
              <a:rPr lang="en-US" b="1" i="0" dirty="0">
                <a:solidFill>
                  <a:srgbClr val="374151"/>
                </a:solidFill>
                <a:effectLst/>
                <a:latin typeface="Söhne"/>
              </a:rPr>
            </a:br>
            <a:endParaRPr lang="en-US" b="0" i="0" dirty="0">
              <a:solidFill>
                <a:srgbClr val="374151"/>
              </a:solidFill>
              <a:effectLst/>
              <a:latin typeface="Söhne"/>
            </a:endParaRPr>
          </a:p>
          <a:p>
            <a:endParaRPr lang="en-IN" dirty="0"/>
          </a:p>
        </p:txBody>
      </p:sp>
      <p:sp>
        <p:nvSpPr>
          <p:cNvPr id="5" name="Content Placeholder 4"/>
          <p:cNvSpPr>
            <a:spLocks noGrp="1"/>
          </p:cNvSpPr>
          <p:nvPr>
            <p:ph sz="half" idx="2"/>
          </p:nvPr>
        </p:nvSpPr>
        <p:spPr>
          <a:xfrm>
            <a:off x="1097279" y="2120900"/>
            <a:ext cx="5581816" cy="3748194"/>
          </a:xfrm>
        </p:spPr>
        <p:txBody>
          <a:bodyPr>
            <a:normAutofit/>
          </a:bodyPr>
          <a:lstStyle/>
          <a:p>
            <a:endParaRPr lang="en-IN" b="1" dirty="0">
              <a:latin typeface="Arial Rounded MT Bold" panose="020F0704030504030204" pitchFamily="34" charset="0"/>
            </a:endParaRPr>
          </a:p>
        </p:txBody>
      </p:sp>
      <p:sp>
        <p:nvSpPr>
          <p:cNvPr id="7" name="Slide Number Placeholder 6">
            <a:extLst>
              <a:ext uri="{FF2B5EF4-FFF2-40B4-BE49-F238E27FC236}">
                <a16:creationId xmlns:a16="http://schemas.microsoft.com/office/drawing/2014/main" id="{ADEDEE2E-F925-DDDA-C9E8-E6798BC3E811}"/>
              </a:ext>
            </a:extLst>
          </p:cNvPr>
          <p:cNvSpPr>
            <a:spLocks noGrp="1"/>
          </p:cNvSpPr>
          <p:nvPr>
            <p:ph type="sldNum" sz="quarter" idx="12"/>
          </p:nvPr>
        </p:nvSpPr>
        <p:spPr/>
        <p:txBody>
          <a:bodyPr/>
          <a:lstStyle/>
          <a:p>
            <a:fld id="{3A98EE3D-8CD1-4C3F-BD1C-C98C9596463C}" type="slidenum">
              <a:rPr lang="en-US" smtClean="0"/>
              <a:pPr/>
              <a:t>22</a:t>
            </a:fld>
            <a:endParaRPr lang="en-US" dirty="0"/>
          </a:p>
        </p:txBody>
      </p:sp>
      <p:pic>
        <p:nvPicPr>
          <p:cNvPr id="8" name="Picture 7">
            <a:extLst>
              <a:ext uri="{FF2B5EF4-FFF2-40B4-BE49-F238E27FC236}">
                <a16:creationId xmlns:a16="http://schemas.microsoft.com/office/drawing/2014/main" id="{AF487F04-1CE1-C217-E148-183446B26576}"/>
              </a:ext>
            </a:extLst>
          </p:cNvPr>
          <p:cNvPicPr>
            <a:picLocks noChangeAspect="1"/>
          </p:cNvPicPr>
          <p:nvPr/>
        </p:nvPicPr>
        <p:blipFill>
          <a:blip r:embed="rId2"/>
          <a:stretch>
            <a:fillRect/>
          </a:stretch>
        </p:blipFill>
        <p:spPr>
          <a:xfrm>
            <a:off x="804985" y="1101012"/>
            <a:ext cx="10628923" cy="4953223"/>
          </a:xfrm>
          <a:prstGeom prst="rect">
            <a:avLst/>
          </a:prstGeom>
        </p:spPr>
      </p:pic>
    </p:spTree>
    <p:extLst>
      <p:ext uri="{BB962C8B-B14F-4D97-AF65-F5344CB8AC3E}">
        <p14:creationId xmlns:p14="http://schemas.microsoft.com/office/powerpoint/2010/main" val="1077456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011" y="365264"/>
            <a:ext cx="10058400" cy="1071650"/>
          </a:xfrm>
        </p:spPr>
        <p:txBody>
          <a:bodyPr/>
          <a:lstStyle/>
          <a:p>
            <a:r>
              <a:rPr lang="en-US" dirty="0"/>
              <a:t>   </a:t>
            </a:r>
            <a:r>
              <a:rPr lang="en-US" dirty="0">
                <a:latin typeface="Constantia" panose="02030602050306030303" pitchFamily="18" charset="0"/>
              </a:rPr>
              <a:t>Results</a:t>
            </a:r>
            <a:endParaRPr lang="en-IN" dirty="0">
              <a:latin typeface="Constantia" panose="02030602050306030303" pitchFamily="18" charset="0"/>
            </a:endParaRPr>
          </a:p>
        </p:txBody>
      </p:sp>
      <p:sp>
        <p:nvSpPr>
          <p:cNvPr id="8" name="Content Placeholder 7"/>
          <p:cNvSpPr>
            <a:spLocks noGrp="1"/>
          </p:cNvSpPr>
          <p:nvPr>
            <p:ph sz="half" idx="2"/>
          </p:nvPr>
        </p:nvSpPr>
        <p:spPr>
          <a:xfrm>
            <a:off x="1176793" y="2120900"/>
            <a:ext cx="5793349" cy="3748194"/>
          </a:xfrm>
        </p:spPr>
        <p:txBody>
          <a:bodyPr>
            <a:normAutofit/>
          </a:bodyPr>
          <a:lstStyle/>
          <a:p>
            <a:pPr marL="0" indent="0">
              <a:buNone/>
            </a:pPr>
            <a:endParaRPr lang="en-US" alt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dirty="0"/>
          </a:p>
          <a:p>
            <a:pPr>
              <a:buFont typeface="Wingdings" panose="05000000000000000000" pitchFamily="2" charset="2"/>
              <a:buChar char="§"/>
            </a:pPr>
            <a:endParaRPr lang="en-IN" sz="2000" b="1" dirty="0">
              <a:latin typeface="Arial Rounded MT Bold" panose="020F0704030504030204" pitchFamily="34" charset="0"/>
            </a:endParaRPr>
          </a:p>
        </p:txBody>
      </p:sp>
      <p:sp>
        <p:nvSpPr>
          <p:cNvPr id="14" name="Rectangle 10"/>
          <p:cNvSpPr>
            <a:spLocks noChangeArrowheads="1"/>
          </p:cNvSpPr>
          <p:nvPr/>
        </p:nvSpPr>
        <p:spPr bwMode="auto">
          <a:xfrm>
            <a:off x="0" y="0"/>
            <a:ext cx="23749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Slide Number Placeholder 2">
            <a:extLst>
              <a:ext uri="{FF2B5EF4-FFF2-40B4-BE49-F238E27FC236}">
                <a16:creationId xmlns:a16="http://schemas.microsoft.com/office/drawing/2014/main" id="{9CEBF382-7F71-401A-38B1-FD737D5AA58E}"/>
              </a:ext>
            </a:extLst>
          </p:cNvPr>
          <p:cNvSpPr>
            <a:spLocks noGrp="1"/>
          </p:cNvSpPr>
          <p:nvPr>
            <p:ph type="sldNum" sz="quarter" idx="12"/>
          </p:nvPr>
        </p:nvSpPr>
        <p:spPr/>
        <p:txBody>
          <a:bodyPr/>
          <a:lstStyle/>
          <a:p>
            <a:fld id="{3A98EE3D-8CD1-4C3F-BD1C-C98C9596463C}" type="slidenum">
              <a:rPr lang="en-US" smtClean="0"/>
              <a:pPr/>
              <a:t>23</a:t>
            </a:fld>
            <a:endParaRPr lang="en-US" dirty="0"/>
          </a:p>
        </p:txBody>
      </p:sp>
      <p:pic>
        <p:nvPicPr>
          <p:cNvPr id="9" name="Picture 8">
            <a:extLst>
              <a:ext uri="{FF2B5EF4-FFF2-40B4-BE49-F238E27FC236}">
                <a16:creationId xmlns:a16="http://schemas.microsoft.com/office/drawing/2014/main" id="{B83D799C-42A1-A39D-ED3C-AB7AD31D2BA1}"/>
              </a:ext>
            </a:extLst>
          </p:cNvPr>
          <p:cNvPicPr>
            <a:picLocks noChangeAspect="1"/>
          </p:cNvPicPr>
          <p:nvPr/>
        </p:nvPicPr>
        <p:blipFill>
          <a:blip r:embed="rId2"/>
          <a:stretch>
            <a:fillRect/>
          </a:stretch>
        </p:blipFill>
        <p:spPr>
          <a:xfrm>
            <a:off x="1176793" y="1325110"/>
            <a:ext cx="10058399" cy="4828420"/>
          </a:xfrm>
          <a:prstGeom prst="rect">
            <a:avLst/>
          </a:prstGeom>
        </p:spPr>
      </p:pic>
    </p:spTree>
    <p:extLst>
      <p:ext uri="{BB962C8B-B14F-4D97-AF65-F5344CB8AC3E}">
        <p14:creationId xmlns:p14="http://schemas.microsoft.com/office/powerpoint/2010/main" val="3024117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4B854-23CA-58CD-AC06-3B6431471FA4}"/>
              </a:ext>
            </a:extLst>
          </p:cNvPr>
          <p:cNvSpPr>
            <a:spLocks noGrp="1"/>
          </p:cNvSpPr>
          <p:nvPr>
            <p:ph type="title"/>
          </p:nvPr>
        </p:nvSpPr>
        <p:spPr/>
        <p:txBody>
          <a:bodyPr/>
          <a:lstStyle/>
          <a:p>
            <a:r>
              <a:rPr lang="en-IN" dirty="0">
                <a:latin typeface="Constantia" panose="02030602050306030303" pitchFamily="18" charset="0"/>
              </a:rPr>
              <a:t>Conclusion</a:t>
            </a:r>
          </a:p>
        </p:txBody>
      </p:sp>
      <p:sp>
        <p:nvSpPr>
          <p:cNvPr id="3" name="Content Placeholder 2">
            <a:extLst>
              <a:ext uri="{FF2B5EF4-FFF2-40B4-BE49-F238E27FC236}">
                <a16:creationId xmlns:a16="http://schemas.microsoft.com/office/drawing/2014/main" id="{1AA378BD-3452-7D19-271B-44006B1C1A09}"/>
              </a:ext>
            </a:extLst>
          </p:cNvPr>
          <p:cNvSpPr>
            <a:spLocks noGrp="1"/>
          </p:cNvSpPr>
          <p:nvPr>
            <p:ph idx="1"/>
          </p:nvPr>
        </p:nvSpPr>
        <p:spPr>
          <a:xfrm>
            <a:off x="1176793" y="2108201"/>
            <a:ext cx="9867570" cy="3760891"/>
          </a:xfrm>
        </p:spPr>
        <p:txBody>
          <a:bodyPr>
            <a:normAutofit/>
          </a:bodyPr>
          <a:lstStyle/>
          <a:p>
            <a:pPr>
              <a:buFont typeface="Wingdings" panose="05000000000000000000" pitchFamily="2" charset="2"/>
              <a:buChar char="Ø"/>
            </a:pPr>
            <a:r>
              <a:rPr lang="en-US" dirty="0">
                <a:solidFill>
                  <a:srgbClr val="374151"/>
                </a:solidFill>
                <a:latin typeface="Times New Roman" panose="02020603050405020304" pitchFamily="18" charset="0"/>
                <a:cs typeface="Times New Roman" panose="02020603050405020304" pitchFamily="18" charset="0"/>
              </a:rPr>
              <a:t> By leveraging machine learning techniques to analyze historical market data and sentiment analysis of Twitter tweets, we developed a predictive model capable of capturing market movements with higher accuracy.</a:t>
            </a:r>
          </a:p>
          <a:p>
            <a:pPr>
              <a:buFont typeface="Wingdings" panose="05000000000000000000" pitchFamily="2" charset="2"/>
              <a:buChar char="Ø"/>
            </a:pPr>
            <a:r>
              <a:rPr lang="en-US" altLang="en-US" dirty="0">
                <a:solidFill>
                  <a:schemeClr val="tx1"/>
                </a:solidFill>
                <a:latin typeface="Times New Roman" panose="02020603050405020304" pitchFamily="18" charset="0"/>
                <a:cs typeface="Times New Roman" panose="02020603050405020304" pitchFamily="18" charset="0"/>
              </a:rPr>
              <a:t> However, careful attention to data quality, model evaluation, and continuous improvement is essential for realizing the full potential of this approach.</a:t>
            </a:r>
            <a:endParaRPr lang="en-US" dirty="0">
              <a:solidFill>
                <a:srgbClr val="37415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dirty="0">
              <a:solidFill>
                <a:srgbClr val="374151"/>
              </a:solidFill>
              <a:latin typeface="Söhne"/>
            </a:endParaRPr>
          </a:p>
        </p:txBody>
      </p:sp>
      <p:sp>
        <p:nvSpPr>
          <p:cNvPr id="7" name="Rectangle 4"/>
          <p:cNvSpPr>
            <a:spLocks noChangeArrowheads="1"/>
          </p:cNvSpPr>
          <p:nvPr/>
        </p:nvSpPr>
        <p:spPr bwMode="auto">
          <a:xfrm>
            <a:off x="0" y="0"/>
            <a:ext cx="40433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BB5FD141-58E5-C6E0-80DE-64D4F4ED0434}"/>
              </a:ext>
            </a:extLst>
          </p:cNvPr>
          <p:cNvSpPr>
            <a:spLocks noGrp="1"/>
          </p:cNvSpPr>
          <p:nvPr>
            <p:ph type="sldNum" sz="quarter" idx="12"/>
          </p:nvPr>
        </p:nvSpPr>
        <p:spPr/>
        <p:txBody>
          <a:bodyPr/>
          <a:lstStyle/>
          <a:p>
            <a:fld id="{3A98EE3D-8CD1-4C3F-BD1C-C98C9596463C}" type="slidenum">
              <a:rPr lang="en-US" smtClean="0"/>
              <a:pPr/>
              <a:t>24</a:t>
            </a:fld>
            <a:endParaRPr lang="en-US" dirty="0"/>
          </a:p>
        </p:txBody>
      </p:sp>
    </p:spTree>
    <p:extLst>
      <p:ext uri="{BB962C8B-B14F-4D97-AF65-F5344CB8AC3E}">
        <p14:creationId xmlns:p14="http://schemas.microsoft.com/office/powerpoint/2010/main" val="4280477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A957A-8EC8-3C85-2589-4C3327C6862F}"/>
              </a:ext>
            </a:extLst>
          </p:cNvPr>
          <p:cNvSpPr>
            <a:spLocks noGrp="1"/>
          </p:cNvSpPr>
          <p:nvPr>
            <p:ph type="title"/>
          </p:nvPr>
        </p:nvSpPr>
        <p:spPr/>
        <p:txBody>
          <a:bodyPr/>
          <a:lstStyle/>
          <a:p>
            <a:r>
              <a:rPr lang="en-IN" dirty="0">
                <a:latin typeface="Constantia" panose="02030602050306030303" pitchFamily="18" charset="0"/>
              </a:rPr>
              <a:t>References</a:t>
            </a:r>
          </a:p>
        </p:txBody>
      </p:sp>
      <p:sp>
        <p:nvSpPr>
          <p:cNvPr id="7" name="Content Placeholder 6">
            <a:extLst>
              <a:ext uri="{FF2B5EF4-FFF2-40B4-BE49-F238E27FC236}">
                <a16:creationId xmlns:a16="http://schemas.microsoft.com/office/drawing/2014/main" id="{0A552AD9-0B48-1F69-FF9B-7F249FA6B683}"/>
              </a:ext>
            </a:extLst>
          </p:cNvPr>
          <p:cNvSpPr>
            <a:spLocks noGrp="1"/>
          </p:cNvSpPr>
          <p:nvPr>
            <p:ph idx="1"/>
          </p:nvPr>
        </p:nvSpPr>
        <p:spPr/>
        <p:txBody>
          <a:bodyPr>
            <a:noAutofit/>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T. Fischer and C. Krauss, “Deep learning with long short-term memory networks for financial market predictions,” Eur. J. Oper. Res., vol. 270,no. 2, pp. 654–669, Dec. 2017.</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X. Wu, Q. Ye, H. Hong, and Y. Li, “Stock selection model based on machine learning with wisdom of experts and crowds,” IEEE Intell. Syst., vol. 35, no. 2, pp. 54–64, Mar. 2020.</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M. Jiang, L. Jia, Z. Chen, and W. Chen, “The two-stage machine learning ensemble models for stock price prediction by combining mode decomposition, extreme learning machine and improved </a:t>
            </a:r>
            <a:r>
              <a:rPr lang="en-IN" dirty="0" err="1">
                <a:latin typeface="Times New Roman" panose="02020603050405020304" pitchFamily="18" charset="0"/>
                <a:cs typeface="Times New Roman" panose="02020603050405020304" pitchFamily="18" charset="0"/>
              </a:rPr>
              <a:t>har-mony</a:t>
            </a:r>
            <a:r>
              <a:rPr lang="en-IN" dirty="0">
                <a:latin typeface="Times New Roman" panose="02020603050405020304" pitchFamily="18" charset="0"/>
                <a:cs typeface="Times New Roman" panose="02020603050405020304" pitchFamily="18" charset="0"/>
              </a:rPr>
              <a:t> search algorithm,” Ann. Oper. Res., vol. 309, pp. 553–585,Jun. 2020</a:t>
            </a:r>
          </a:p>
        </p:txBody>
      </p:sp>
      <p:sp>
        <p:nvSpPr>
          <p:cNvPr id="5" name="Slide Number Placeholder 4">
            <a:extLst>
              <a:ext uri="{FF2B5EF4-FFF2-40B4-BE49-F238E27FC236}">
                <a16:creationId xmlns:a16="http://schemas.microsoft.com/office/drawing/2014/main" id="{AC820096-F593-56D1-919C-300096B349E7}"/>
              </a:ext>
            </a:extLst>
          </p:cNvPr>
          <p:cNvSpPr>
            <a:spLocks noGrp="1"/>
          </p:cNvSpPr>
          <p:nvPr>
            <p:ph type="sldNum" sz="quarter" idx="12"/>
          </p:nvPr>
        </p:nvSpPr>
        <p:spPr/>
        <p:txBody>
          <a:bodyPr/>
          <a:lstStyle/>
          <a:p>
            <a:fld id="{3A98EE3D-8CD1-4C3F-BD1C-C98C9596463C}" type="slidenum">
              <a:rPr lang="en-US" smtClean="0"/>
              <a:pPr/>
              <a:t>25</a:t>
            </a:fld>
            <a:endParaRPr lang="en-US" dirty="0"/>
          </a:p>
        </p:txBody>
      </p:sp>
    </p:spTree>
    <p:extLst>
      <p:ext uri="{BB962C8B-B14F-4D97-AF65-F5344CB8AC3E}">
        <p14:creationId xmlns:p14="http://schemas.microsoft.com/office/powerpoint/2010/main" val="3894824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77985E-38C7-75B3-5196-882874EAB622}"/>
              </a:ext>
            </a:extLst>
          </p:cNvPr>
          <p:cNvPicPr>
            <a:picLocks noChangeAspect="1"/>
          </p:cNvPicPr>
          <p:nvPr/>
        </p:nvPicPr>
        <p:blipFill>
          <a:blip r:embed="rId2"/>
          <a:srcRect/>
          <a:stretch/>
        </p:blipFill>
        <p:spPr>
          <a:xfrm>
            <a:off x="1723465" y="628153"/>
            <a:ext cx="8745070" cy="5265201"/>
          </a:xfrm>
          <a:prstGeom prst="rect">
            <a:avLst/>
          </a:prstGeom>
        </p:spPr>
      </p:pic>
      <p:sp>
        <p:nvSpPr>
          <p:cNvPr id="2" name="Slide Number Placeholder 1">
            <a:extLst>
              <a:ext uri="{FF2B5EF4-FFF2-40B4-BE49-F238E27FC236}">
                <a16:creationId xmlns:a16="http://schemas.microsoft.com/office/drawing/2014/main" id="{C54D909E-B3F2-F48C-19AF-5AEB82431694}"/>
              </a:ext>
            </a:extLst>
          </p:cNvPr>
          <p:cNvSpPr>
            <a:spLocks noGrp="1"/>
          </p:cNvSpPr>
          <p:nvPr>
            <p:ph type="sldNum" sz="quarter" idx="12"/>
          </p:nvPr>
        </p:nvSpPr>
        <p:spPr/>
        <p:txBody>
          <a:bodyPr/>
          <a:lstStyle/>
          <a:p>
            <a:fld id="{3A98EE3D-8CD1-4C3F-BD1C-C98C9596463C}" type="slidenum">
              <a:rPr lang="en-US" smtClean="0"/>
              <a:pPr/>
              <a:t>26</a:t>
            </a:fld>
            <a:endParaRPr lang="en-US" dirty="0"/>
          </a:p>
        </p:txBody>
      </p:sp>
    </p:spTree>
    <p:extLst>
      <p:ext uri="{BB962C8B-B14F-4D97-AF65-F5344CB8AC3E}">
        <p14:creationId xmlns:p14="http://schemas.microsoft.com/office/powerpoint/2010/main" val="834447882"/>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3EEFF0-FB57-4CB4-8BFC-DF397689E2ED}">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microsoft.com/sharepoint/v3"/>
    <ds:schemaRef ds:uri="230e9df3-be65-4c73-a93b-d1236ebd677e"/>
    <ds:schemaRef ds:uri="http://purl.org/dc/terms/"/>
    <ds:schemaRef ds:uri="http://schemas.openxmlformats.org/package/2006/metadata/core-properties"/>
    <ds:schemaRef ds:uri="16c05727-aa75-4e4a-9b5f-8a80a1165891"/>
    <ds:schemaRef ds:uri="http://purl.org/dc/dcmitype/"/>
    <ds:schemaRef ds:uri="71af3243-3dd4-4a8d-8c0d-dd76da1f02a5"/>
    <ds:schemaRef ds:uri="http://www.w3.org/XML/1998/namespace"/>
  </ds:schemaRefs>
</ds:datastoreItem>
</file>

<file path=customXml/itemProps3.xml><?xml version="1.0" encoding="utf-8"?>
<ds:datastoreItem xmlns:ds="http://schemas.openxmlformats.org/officeDocument/2006/customXml" ds:itemID="{AA3F7EDC-E5B4-4BBC-9D2A-CBE6D46C3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{C9400BF4-95E6-42EF-8DC1-EF9E5F007F6D}tf22712842_win32</Template>
  <TotalTime>2160</TotalTime>
  <Words>1269</Words>
  <Application>Microsoft Office PowerPoint</Application>
  <PresentationFormat>Widescreen</PresentationFormat>
  <Paragraphs>130</Paragraphs>
  <Slides>26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Arial Rounded MT Bold</vt:lpstr>
      <vt:lpstr>Bookman Old Style</vt:lpstr>
      <vt:lpstr>Calibri</vt:lpstr>
      <vt:lpstr>Constantia</vt:lpstr>
      <vt:lpstr>Franklin Gothic Book</vt:lpstr>
      <vt:lpstr>Söhne</vt:lpstr>
      <vt:lpstr>Times New Roman</vt:lpstr>
      <vt:lpstr>Wingdings</vt:lpstr>
      <vt:lpstr>Custom</vt:lpstr>
      <vt:lpstr>PowerPoint Presentation</vt:lpstr>
      <vt:lpstr>CONTENTS</vt:lpstr>
      <vt:lpstr>PowerPoint Presentation</vt:lpstr>
      <vt:lpstr>Introduction</vt:lpstr>
      <vt:lpstr>Literature Survey </vt:lpstr>
      <vt:lpstr>Existing Systems</vt:lpstr>
      <vt:lpstr>Proposed System </vt:lpstr>
      <vt:lpstr>Software  Requirements</vt:lpstr>
      <vt:lpstr>HARDWARE REQUIREMENTS</vt:lpstr>
      <vt:lpstr>Advantages</vt:lpstr>
      <vt:lpstr>Disadvantages</vt:lpstr>
      <vt:lpstr>Architecture</vt:lpstr>
      <vt:lpstr>Objectives</vt:lpstr>
      <vt:lpstr>Modules</vt:lpstr>
      <vt:lpstr>Methodology</vt:lpstr>
      <vt:lpstr>Methodology</vt:lpstr>
      <vt:lpstr>Methodology</vt:lpstr>
      <vt:lpstr>Methodology</vt:lpstr>
      <vt:lpstr>Algorithms for stock market prediction</vt:lpstr>
      <vt:lpstr>Comparison of Models</vt:lpstr>
      <vt:lpstr>Model Performance metrics</vt:lpstr>
      <vt:lpstr>Results</vt:lpstr>
      <vt:lpstr>   Results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prediction of Sepsis by machine learning algorithms</dc:title>
  <dc:creator>malavika ganugapyata</dc:creator>
  <cp:lastModifiedBy>Harshitha Burra</cp:lastModifiedBy>
  <cp:revision>63</cp:revision>
  <dcterms:created xsi:type="dcterms:W3CDTF">2024-01-18T17:05:56Z</dcterms:created>
  <dcterms:modified xsi:type="dcterms:W3CDTF">2025-01-23T23:58:34Z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